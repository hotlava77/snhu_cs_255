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8"/>
        </a:solidFill>
      </p:bgPr>
    </p:bg>
    <p:spTree>
      <p:nvGrpSpPr>
        <p:cNvPr id="1" name=""/>
        <p:cNvGrpSpPr/>
        <p:nvPr/>
      </p:nvGrpSpPr>
      <p:grpSpPr>
        <a:xfrm>
          <a:off x="0" y="0"/>
          <a:ext cx="0" cy="0"/>
          <a:chOff x="0" y="0"/>
          <a:chExt cx="0" cy="0"/>
        </a:xfrm>
      </p:grpSpPr>
      <p:sp>
        <p:nvSpPr>
          <p:cNvPr id="2" name="Text 0"/>
          <p:cNvSpPr/>
          <p:nvPr/>
        </p:nvSpPr>
        <p:spPr>
          <a:xfrm>
            <a:off x="457200" y="1371600"/>
            <a:ext cx="8229600" cy="13716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DriverPass System Design</a:t>
            </a:r>
            <a:endParaRPr lang="en-US" sz="4400" dirty="0"/>
          </a:p>
        </p:txBody>
      </p:sp>
      <p:sp>
        <p:nvSpPr>
          <p:cNvPr id="3" name="Text 1"/>
          <p:cNvSpPr/>
          <p:nvPr/>
        </p:nvSpPr>
        <p:spPr>
          <a:xfrm>
            <a:off x="457200" y="2926080"/>
            <a:ext cx="8229600" cy="548640"/>
          </a:xfrm>
          <a:prstGeom prst="rect">
            <a:avLst/>
          </a:prstGeom>
          <a:noFill/>
          <a:ln/>
        </p:spPr>
        <p:txBody>
          <a:bodyPr wrap="square" rtlCol="0" anchor="ctr"/>
          <a:lstStyle/>
          <a:p>
            <a:pPr algn="ctr" indent="0" marL="0">
              <a:buNone/>
            </a:pPr>
            <a:r>
              <a:rPr lang="en-US" sz="2400" dirty="0">
                <a:solidFill>
                  <a:srgbClr val="5B9BD5"/>
                </a:solidFill>
                <a:latin typeface="Arial" pitchFamily="34" charset="0"/>
                <a:ea typeface="Arial" pitchFamily="34" charset="-122"/>
                <a:cs typeface="Arial" pitchFamily="34" charset="-120"/>
              </a:rPr>
              <a:t>Driver Training Management System</a:t>
            </a:r>
            <a:endParaRPr lang="en-US" sz="2400" dirty="0"/>
          </a:p>
        </p:txBody>
      </p:sp>
      <p:sp>
        <p:nvSpPr>
          <p:cNvPr id="4" name="Text 2"/>
          <p:cNvSpPr/>
          <p:nvPr/>
        </p:nvSpPr>
        <p:spPr>
          <a:xfrm>
            <a:off x="457200" y="4114800"/>
            <a:ext cx="8229600" cy="914400"/>
          </a:xfrm>
          <a:prstGeom prst="rect">
            <a:avLst/>
          </a:prstGeom>
          <a:noFill/>
          <a:ln/>
        </p:spPr>
        <p:txBody>
          <a:bodyPr wrap="square"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Presented by: </a:t>
            </a:r>
            <a:pPr algn="ctr" indent="0" marL="0">
              <a:buNone/>
            </a:pPr>
            <a:r>
              <a:rPr lang="en-US" sz="1600" b="1" dirty="0">
                <a:solidFill>
                  <a:srgbClr val="5B9BD5"/>
                </a:solidFill>
                <a:latin typeface="Arial" pitchFamily="34" charset="0"/>
                <a:ea typeface="Arial" pitchFamily="34" charset="-122"/>
                <a:cs typeface="Arial" pitchFamily="34" charset="-120"/>
              </a:rPr>
              <a:t>[Your Name]
</a:t>
            </a:r>
            <a:pPr algn="ctr" indent="0" marL="0">
              <a:buNone/>
            </a:pPr>
            <a:r>
              <a:rPr lang="en-US" sz="1400" dirty="0">
                <a:solidFill>
                  <a:srgbClr val="CCCCCC"/>
                </a:solidFill>
                <a:latin typeface="Arial" pitchFamily="34" charset="0"/>
                <a:ea typeface="Arial" pitchFamily="34" charset="-122"/>
                <a:cs typeface="Arial" pitchFamily="34" charset="-120"/>
              </a:rPr>
              <a:t>Date: February 22,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1F4E78"/>
                </a:solidFill>
                <a:latin typeface="Arial" pitchFamily="34" charset="0"/>
                <a:ea typeface="Arial" pitchFamily="34" charset="-122"/>
                <a:cs typeface="Arial" pitchFamily="34" charset="-120"/>
              </a:rPr>
              <a:t>System Requirements Overview</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indent="0" marL="0">
              <a:buNone/>
            </a:pPr>
            <a:r>
              <a:rPr lang="en-US" sz="2000" b="1" dirty="0">
                <a:solidFill>
                  <a:srgbClr val="2E75B6"/>
                </a:solidFill>
                <a:latin typeface="Arial" pitchFamily="34" charset="0"/>
                <a:ea typeface="Arial" pitchFamily="34" charset="-122"/>
                <a:cs typeface="Arial" pitchFamily="34" charset="-120"/>
              </a:rPr>
              <a:t>Core Functional Requirements</a:t>
            </a:r>
            <a:endParaRPr lang="en-US" sz="2000" dirty="0"/>
          </a:p>
        </p:txBody>
      </p:sp>
      <p:sp>
        <p:nvSpPr>
          <p:cNvPr id="4" name="Text 2"/>
          <p:cNvSpPr/>
          <p:nvPr/>
        </p:nvSpPr>
        <p:spPr>
          <a:xfrm>
            <a:off x="640080" y="1554480"/>
            <a:ext cx="274320" cy="320040"/>
          </a:xfrm>
          <a:prstGeom prst="rect">
            <a:avLst/>
          </a:prstGeom>
          <a:noFill/>
          <a:ln/>
        </p:spPr>
        <p:txBody>
          <a:bodyPr wrap="square" rtlCol="0" anchor="ctr"/>
          <a:lstStyle/>
          <a:p>
            <a:pPr indent="0" marL="0">
              <a:buNone/>
            </a:pPr>
            <a:r>
              <a:rPr lang="en-US" sz="1400" b="1" dirty="0">
                <a:solidFill>
                  <a:srgbClr val="70AD47"/>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914400" y="1554480"/>
            <a:ext cx="777240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Customer Self-Service: Online registration, lesson scheduling, test taking, and progress tracking</a:t>
            </a:r>
            <a:endParaRPr lang="en-US" sz="1400" dirty="0"/>
          </a:p>
        </p:txBody>
      </p:sp>
      <p:sp>
        <p:nvSpPr>
          <p:cNvPr id="6" name="Text 4"/>
          <p:cNvSpPr/>
          <p:nvPr/>
        </p:nvSpPr>
        <p:spPr>
          <a:xfrm>
            <a:off x="640080" y="2103120"/>
            <a:ext cx="274320" cy="320040"/>
          </a:xfrm>
          <a:prstGeom prst="rect">
            <a:avLst/>
          </a:prstGeom>
          <a:noFill/>
          <a:ln/>
        </p:spPr>
        <p:txBody>
          <a:bodyPr wrap="square" rtlCol="0" anchor="ctr"/>
          <a:lstStyle/>
          <a:p>
            <a:pPr indent="0" marL="0">
              <a:buNone/>
            </a:pPr>
            <a:r>
              <a:rPr lang="en-US" sz="1400" b="1" dirty="0">
                <a:solidFill>
                  <a:srgbClr val="70AD47"/>
                </a:solidFill>
                <a:latin typeface="Arial" pitchFamily="34" charset="0"/>
                <a:ea typeface="Arial" pitchFamily="34" charset="-122"/>
                <a:cs typeface="Arial" pitchFamily="34" charset="-120"/>
              </a:rPr>
              <a:t>2.</a:t>
            </a:r>
            <a:endParaRPr lang="en-US" sz="1400" dirty="0"/>
          </a:p>
        </p:txBody>
      </p:sp>
      <p:sp>
        <p:nvSpPr>
          <p:cNvPr id="7" name="Text 5"/>
          <p:cNvSpPr/>
          <p:nvPr/>
        </p:nvSpPr>
        <p:spPr>
          <a:xfrm>
            <a:off x="914400" y="2103120"/>
            <a:ext cx="777240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Package Management: Three training packages with flexible pricing and features</a:t>
            </a:r>
            <a:endParaRPr lang="en-US" sz="1400" dirty="0"/>
          </a:p>
        </p:txBody>
      </p:sp>
      <p:sp>
        <p:nvSpPr>
          <p:cNvPr id="8" name="Text 6"/>
          <p:cNvSpPr/>
          <p:nvPr/>
        </p:nvSpPr>
        <p:spPr>
          <a:xfrm>
            <a:off x="640080" y="2651760"/>
            <a:ext cx="274320" cy="320040"/>
          </a:xfrm>
          <a:prstGeom prst="rect">
            <a:avLst/>
          </a:prstGeom>
          <a:noFill/>
          <a:ln/>
        </p:spPr>
        <p:txBody>
          <a:bodyPr wrap="square" rtlCol="0" anchor="ctr"/>
          <a:lstStyle/>
          <a:p>
            <a:pPr indent="0" marL="0">
              <a:buNone/>
            </a:pPr>
            <a:r>
              <a:rPr lang="en-US" sz="1400" b="1" dirty="0">
                <a:solidFill>
                  <a:srgbClr val="70AD47"/>
                </a:solidFill>
                <a:latin typeface="Arial" pitchFamily="34" charset="0"/>
                <a:ea typeface="Arial" pitchFamily="34" charset="-122"/>
                <a:cs typeface="Arial" pitchFamily="34" charset="-120"/>
              </a:rPr>
              <a:t>3.</a:t>
            </a:r>
            <a:endParaRPr lang="en-US" sz="1400" dirty="0"/>
          </a:p>
        </p:txBody>
      </p:sp>
      <p:sp>
        <p:nvSpPr>
          <p:cNvPr id="9" name="Text 7"/>
          <p:cNvSpPr/>
          <p:nvPr/>
        </p:nvSpPr>
        <p:spPr>
          <a:xfrm>
            <a:off x="914400" y="2651760"/>
            <a:ext cx="777240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Reservation System: Schedule, modify, and cancel driving lessons with automatic driver assignment</a:t>
            </a:r>
            <a:endParaRPr lang="en-US" sz="1400" dirty="0"/>
          </a:p>
        </p:txBody>
      </p:sp>
      <p:sp>
        <p:nvSpPr>
          <p:cNvPr id="10" name="Text 8"/>
          <p:cNvSpPr/>
          <p:nvPr/>
        </p:nvSpPr>
        <p:spPr>
          <a:xfrm>
            <a:off x="640080" y="3200400"/>
            <a:ext cx="274320" cy="320040"/>
          </a:xfrm>
          <a:prstGeom prst="rect">
            <a:avLst/>
          </a:prstGeom>
          <a:noFill/>
          <a:ln/>
        </p:spPr>
        <p:txBody>
          <a:bodyPr wrap="square" rtlCol="0" anchor="ctr"/>
          <a:lstStyle/>
          <a:p>
            <a:pPr indent="0" marL="0">
              <a:buNone/>
            </a:pPr>
            <a:r>
              <a:rPr lang="en-US" sz="1400" b="1" dirty="0">
                <a:solidFill>
                  <a:srgbClr val="70AD47"/>
                </a:solidFill>
                <a:latin typeface="Arial" pitchFamily="34" charset="0"/>
                <a:ea typeface="Arial" pitchFamily="34" charset="-122"/>
                <a:cs typeface="Arial" pitchFamily="34" charset="-120"/>
              </a:rPr>
              <a:t>4.</a:t>
            </a:r>
            <a:endParaRPr lang="en-US" sz="1400" dirty="0"/>
          </a:p>
        </p:txBody>
      </p:sp>
      <p:sp>
        <p:nvSpPr>
          <p:cNvPr id="11" name="Text 9"/>
          <p:cNvSpPr/>
          <p:nvPr/>
        </p:nvSpPr>
        <p:spPr>
          <a:xfrm>
            <a:off x="914400" y="3200400"/>
            <a:ext cx="777240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Administrative Tools: Secretary and IT officer capabilities for system management</a:t>
            </a:r>
            <a:endParaRPr lang="en-US" sz="1400" dirty="0"/>
          </a:p>
        </p:txBody>
      </p:sp>
      <p:sp>
        <p:nvSpPr>
          <p:cNvPr id="12" name="Text 10"/>
          <p:cNvSpPr/>
          <p:nvPr/>
        </p:nvSpPr>
        <p:spPr>
          <a:xfrm>
            <a:off x="640080" y="3749040"/>
            <a:ext cx="274320" cy="320040"/>
          </a:xfrm>
          <a:prstGeom prst="rect">
            <a:avLst/>
          </a:prstGeom>
          <a:noFill/>
          <a:ln/>
        </p:spPr>
        <p:txBody>
          <a:bodyPr wrap="square" rtlCol="0" anchor="ctr"/>
          <a:lstStyle/>
          <a:p>
            <a:pPr indent="0" marL="0">
              <a:buNone/>
            </a:pPr>
            <a:r>
              <a:rPr lang="en-US" sz="1400" b="1" dirty="0">
                <a:solidFill>
                  <a:srgbClr val="70AD47"/>
                </a:solidFill>
                <a:latin typeface="Arial" pitchFamily="34" charset="0"/>
                <a:ea typeface="Arial" pitchFamily="34" charset="-122"/>
                <a:cs typeface="Arial" pitchFamily="34" charset="-120"/>
              </a:rPr>
              <a:t>5.</a:t>
            </a:r>
            <a:endParaRPr lang="en-US" sz="1400" dirty="0"/>
          </a:p>
        </p:txBody>
      </p:sp>
      <p:sp>
        <p:nvSpPr>
          <p:cNvPr id="13" name="Text 11"/>
          <p:cNvSpPr/>
          <p:nvPr/>
        </p:nvSpPr>
        <p:spPr>
          <a:xfrm>
            <a:off x="914400" y="3749040"/>
            <a:ext cx="777240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Business Intelligence: Owner reports for activity tracking and business oversight</a:t>
            </a:r>
            <a:endParaRPr lang="en-US" sz="1400" dirty="0"/>
          </a:p>
        </p:txBody>
      </p:sp>
      <p:sp>
        <p:nvSpPr>
          <p:cNvPr id="14" name="Text 12"/>
          <p:cNvSpPr/>
          <p:nvPr/>
        </p:nvSpPr>
        <p:spPr>
          <a:xfrm>
            <a:off x="640080" y="4297680"/>
            <a:ext cx="274320" cy="320040"/>
          </a:xfrm>
          <a:prstGeom prst="rect">
            <a:avLst/>
          </a:prstGeom>
          <a:noFill/>
          <a:ln/>
        </p:spPr>
        <p:txBody>
          <a:bodyPr wrap="square" rtlCol="0" anchor="ctr"/>
          <a:lstStyle/>
          <a:p>
            <a:pPr indent="0" marL="0">
              <a:buNone/>
            </a:pPr>
            <a:r>
              <a:rPr lang="en-US" sz="1400" b="1" dirty="0">
                <a:solidFill>
                  <a:srgbClr val="70AD47"/>
                </a:solidFill>
                <a:latin typeface="Arial" pitchFamily="34" charset="0"/>
                <a:ea typeface="Arial" pitchFamily="34" charset="-122"/>
                <a:cs typeface="Arial" pitchFamily="34" charset="-120"/>
              </a:rPr>
              <a:t>6.</a:t>
            </a:r>
            <a:endParaRPr lang="en-US" sz="1400" dirty="0"/>
          </a:p>
        </p:txBody>
      </p:sp>
      <p:sp>
        <p:nvSpPr>
          <p:cNvPr id="15" name="Text 13"/>
          <p:cNvSpPr/>
          <p:nvPr/>
        </p:nvSpPr>
        <p:spPr>
          <a:xfrm>
            <a:off x="914400" y="4297680"/>
            <a:ext cx="7772400" cy="32004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DMV Integration: Automatic updates for rules, policies, and practice questions</a:t>
            </a:r>
            <a:endParaRPr lang="en-US" sz="1400" dirty="0"/>
          </a:p>
        </p:txBody>
      </p:sp>
      <p:sp>
        <p:nvSpPr>
          <p:cNvPr id="16" name="Shape 14"/>
          <p:cNvSpPr/>
          <p:nvPr/>
        </p:nvSpPr>
        <p:spPr>
          <a:xfrm>
            <a:off x="457200" y="4663440"/>
            <a:ext cx="8229600" cy="731520"/>
          </a:xfrm>
          <a:prstGeom prst="rect">
            <a:avLst/>
          </a:prstGeom>
          <a:solidFill>
            <a:srgbClr val="F2F2F2"/>
          </a:solidFill>
          <a:ln/>
        </p:spPr>
      </p:sp>
      <p:sp>
        <p:nvSpPr>
          <p:cNvPr id="17" name="Text 15"/>
          <p:cNvSpPr/>
          <p:nvPr/>
        </p:nvSpPr>
        <p:spPr>
          <a:xfrm>
            <a:off x="640080" y="4754880"/>
            <a:ext cx="7863840" cy="548640"/>
          </a:xfrm>
          <a:prstGeom prst="rect">
            <a:avLst/>
          </a:prstGeom>
          <a:noFill/>
          <a:ln/>
        </p:spPr>
        <p:txBody>
          <a:bodyPr wrap="square" rtlCol="0" anchor="ctr"/>
          <a:lstStyle/>
          <a:p>
            <a:pPr indent="0" marL="0">
              <a:buNone/>
            </a:pPr>
            <a:r>
              <a:rPr lang="en-US" sz="1300" i="1" dirty="0">
                <a:solidFill>
                  <a:srgbClr val="555555"/>
                </a:solidFill>
                <a:latin typeface="Arial" pitchFamily="34" charset="0"/>
                <a:ea typeface="Arial" pitchFamily="34" charset="-122"/>
                <a:cs typeface="Arial" pitchFamily="34" charset="-120"/>
              </a:rPr>
              <a:t>These requirements ensure your business runs smoothly while providing excellent service to your customers.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1F4E78"/>
                </a:solidFill>
                <a:latin typeface="Arial" pitchFamily="34" charset="0"/>
                <a:ea typeface="Arial" pitchFamily="34" charset="-122"/>
                <a:cs typeface="Arial" pitchFamily="34" charset="-120"/>
              </a:rPr>
              <a:t>System Users and Capabilities</a:t>
            </a:r>
            <a:endParaRPr lang="en-US" sz="3200" dirty="0"/>
          </a:p>
        </p:txBody>
      </p:sp>
      <p:sp>
        <p:nvSpPr>
          <p:cNvPr id="3" name="Text 1"/>
          <p:cNvSpPr/>
          <p:nvPr/>
        </p:nvSpPr>
        <p:spPr>
          <a:xfrm>
            <a:off x="457200" y="1005840"/>
            <a:ext cx="3657600" cy="365760"/>
          </a:xfrm>
          <a:prstGeom prst="rect">
            <a:avLst/>
          </a:prstGeom>
          <a:noFill/>
          <a:ln/>
        </p:spPr>
        <p:txBody>
          <a:bodyPr wrap="square" rtlCol="0" anchor="ctr"/>
          <a:lstStyle/>
          <a:p>
            <a:pPr indent="0" marL="0">
              <a:buNone/>
            </a:pPr>
            <a:r>
              <a:rPr lang="en-US" sz="1800" b="1" dirty="0">
                <a:solidFill>
                  <a:srgbClr val="2E75B6"/>
                </a:solidFill>
                <a:latin typeface="Arial" pitchFamily="34" charset="0"/>
                <a:ea typeface="Arial" pitchFamily="34" charset="-122"/>
                <a:cs typeface="Arial" pitchFamily="34" charset="-120"/>
              </a:rPr>
              <a:t>System Users</a:t>
            </a:r>
            <a:endParaRPr lang="en-US" sz="1800" dirty="0"/>
          </a:p>
        </p:txBody>
      </p:sp>
      <p:sp>
        <p:nvSpPr>
          <p:cNvPr id="4" name="Shape 2"/>
          <p:cNvSpPr/>
          <p:nvPr/>
        </p:nvSpPr>
        <p:spPr>
          <a:xfrm>
            <a:off x="548640" y="1463040"/>
            <a:ext cx="3474720" cy="594360"/>
          </a:xfrm>
          <a:prstGeom prst="rect">
            <a:avLst/>
          </a:prstGeom>
          <a:solidFill>
            <a:srgbClr val="5B9BD5"/>
          </a:solidFill>
          <a:ln w="12700">
            <a:solidFill>
              <a:srgbClr val="2E75B6"/>
            </a:solidFill>
            <a:prstDash val="solid"/>
          </a:ln>
        </p:spPr>
      </p:sp>
      <p:sp>
        <p:nvSpPr>
          <p:cNvPr id="5" name="Text 3"/>
          <p:cNvSpPr/>
          <p:nvPr/>
        </p:nvSpPr>
        <p:spPr>
          <a:xfrm>
            <a:off x="640080" y="1536192"/>
            <a:ext cx="329184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Customers</a:t>
            </a:r>
            <a:endParaRPr lang="en-US" sz="1400" dirty="0"/>
          </a:p>
        </p:txBody>
      </p:sp>
      <p:sp>
        <p:nvSpPr>
          <p:cNvPr id="6" name="Text 4"/>
          <p:cNvSpPr/>
          <p:nvPr/>
        </p:nvSpPr>
        <p:spPr>
          <a:xfrm>
            <a:off x="640080" y="1783080"/>
            <a:ext cx="3291840" cy="22860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Register, schedule lessons, take tests, track progress</a:t>
            </a:r>
            <a:endParaRPr lang="en-US" sz="1100" dirty="0"/>
          </a:p>
        </p:txBody>
      </p:sp>
      <p:sp>
        <p:nvSpPr>
          <p:cNvPr id="7" name="Shape 5"/>
          <p:cNvSpPr/>
          <p:nvPr/>
        </p:nvSpPr>
        <p:spPr>
          <a:xfrm>
            <a:off x="548640" y="2148840"/>
            <a:ext cx="3474720" cy="594360"/>
          </a:xfrm>
          <a:prstGeom prst="rect">
            <a:avLst/>
          </a:prstGeom>
          <a:solidFill>
            <a:srgbClr val="5B9BD5"/>
          </a:solidFill>
          <a:ln w="12700">
            <a:solidFill>
              <a:srgbClr val="2E75B6"/>
            </a:solidFill>
            <a:prstDash val="solid"/>
          </a:ln>
        </p:spPr>
      </p:sp>
      <p:sp>
        <p:nvSpPr>
          <p:cNvPr id="8" name="Text 6"/>
          <p:cNvSpPr/>
          <p:nvPr/>
        </p:nvSpPr>
        <p:spPr>
          <a:xfrm>
            <a:off x="640080" y="2221992"/>
            <a:ext cx="329184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Secretary</a:t>
            </a:r>
            <a:endParaRPr lang="en-US" sz="1400" dirty="0"/>
          </a:p>
        </p:txBody>
      </p:sp>
      <p:sp>
        <p:nvSpPr>
          <p:cNvPr id="9" name="Text 7"/>
          <p:cNvSpPr/>
          <p:nvPr/>
        </p:nvSpPr>
        <p:spPr>
          <a:xfrm>
            <a:off x="640080" y="2468880"/>
            <a:ext cx="3291840" cy="22860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Verify appointments, assign drivers, assist customers</a:t>
            </a:r>
            <a:endParaRPr lang="en-US" sz="1100" dirty="0"/>
          </a:p>
        </p:txBody>
      </p:sp>
      <p:sp>
        <p:nvSpPr>
          <p:cNvPr id="10" name="Shape 8"/>
          <p:cNvSpPr/>
          <p:nvPr/>
        </p:nvSpPr>
        <p:spPr>
          <a:xfrm>
            <a:off x="548640" y="2834640"/>
            <a:ext cx="3474720" cy="594360"/>
          </a:xfrm>
          <a:prstGeom prst="rect">
            <a:avLst/>
          </a:prstGeom>
          <a:solidFill>
            <a:srgbClr val="5B9BD5"/>
          </a:solidFill>
          <a:ln w="12700">
            <a:solidFill>
              <a:srgbClr val="2E75B6"/>
            </a:solidFill>
            <a:prstDash val="solid"/>
          </a:ln>
        </p:spPr>
      </p:sp>
      <p:sp>
        <p:nvSpPr>
          <p:cNvPr id="11" name="Text 9"/>
          <p:cNvSpPr/>
          <p:nvPr/>
        </p:nvSpPr>
        <p:spPr>
          <a:xfrm>
            <a:off x="640080" y="2907792"/>
            <a:ext cx="329184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IT Officer</a:t>
            </a:r>
            <a:endParaRPr lang="en-US" sz="1400" dirty="0"/>
          </a:p>
        </p:txBody>
      </p:sp>
      <p:sp>
        <p:nvSpPr>
          <p:cNvPr id="12" name="Text 10"/>
          <p:cNvSpPr/>
          <p:nvPr/>
        </p:nvSpPr>
        <p:spPr>
          <a:xfrm>
            <a:off x="640080" y="3154680"/>
            <a:ext cx="3291840" cy="22860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Reset passwords, manage system settings</a:t>
            </a:r>
            <a:endParaRPr lang="en-US" sz="1100" dirty="0"/>
          </a:p>
        </p:txBody>
      </p:sp>
      <p:sp>
        <p:nvSpPr>
          <p:cNvPr id="13" name="Shape 11"/>
          <p:cNvSpPr/>
          <p:nvPr/>
        </p:nvSpPr>
        <p:spPr>
          <a:xfrm>
            <a:off x="548640" y="3520440"/>
            <a:ext cx="3474720" cy="594360"/>
          </a:xfrm>
          <a:prstGeom prst="rect">
            <a:avLst/>
          </a:prstGeom>
          <a:solidFill>
            <a:srgbClr val="5B9BD5"/>
          </a:solidFill>
          <a:ln w="12700">
            <a:solidFill>
              <a:srgbClr val="2E75B6"/>
            </a:solidFill>
            <a:prstDash val="solid"/>
          </a:ln>
        </p:spPr>
      </p:sp>
      <p:sp>
        <p:nvSpPr>
          <p:cNvPr id="14" name="Text 12"/>
          <p:cNvSpPr/>
          <p:nvPr/>
        </p:nvSpPr>
        <p:spPr>
          <a:xfrm>
            <a:off x="640080" y="3593592"/>
            <a:ext cx="329184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Owner (You)</a:t>
            </a:r>
            <a:endParaRPr lang="en-US" sz="1400" dirty="0"/>
          </a:p>
        </p:txBody>
      </p:sp>
      <p:sp>
        <p:nvSpPr>
          <p:cNvPr id="15" name="Text 13"/>
          <p:cNvSpPr/>
          <p:nvPr/>
        </p:nvSpPr>
        <p:spPr>
          <a:xfrm>
            <a:off x="640080" y="3840480"/>
            <a:ext cx="3291840" cy="22860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View reports, manage users, track all activities</a:t>
            </a:r>
            <a:endParaRPr lang="en-US" sz="1100" dirty="0"/>
          </a:p>
        </p:txBody>
      </p:sp>
      <p:sp>
        <p:nvSpPr>
          <p:cNvPr id="16" name="Shape 14"/>
          <p:cNvSpPr/>
          <p:nvPr/>
        </p:nvSpPr>
        <p:spPr>
          <a:xfrm>
            <a:off x="548640" y="4206240"/>
            <a:ext cx="3474720" cy="594360"/>
          </a:xfrm>
          <a:prstGeom prst="rect">
            <a:avLst/>
          </a:prstGeom>
          <a:solidFill>
            <a:srgbClr val="5B9BD5"/>
          </a:solidFill>
          <a:ln w="12700">
            <a:solidFill>
              <a:srgbClr val="2E75B6"/>
            </a:solidFill>
            <a:prstDash val="solid"/>
          </a:ln>
        </p:spPr>
      </p:sp>
      <p:sp>
        <p:nvSpPr>
          <p:cNvPr id="17" name="Text 15"/>
          <p:cNvSpPr/>
          <p:nvPr/>
        </p:nvSpPr>
        <p:spPr>
          <a:xfrm>
            <a:off x="640080" y="4279392"/>
            <a:ext cx="329184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DMV System</a:t>
            </a:r>
            <a:endParaRPr lang="en-US" sz="1400" dirty="0"/>
          </a:p>
        </p:txBody>
      </p:sp>
      <p:sp>
        <p:nvSpPr>
          <p:cNvPr id="18" name="Text 16"/>
          <p:cNvSpPr/>
          <p:nvPr/>
        </p:nvSpPr>
        <p:spPr>
          <a:xfrm>
            <a:off x="640080" y="4526280"/>
            <a:ext cx="3291840" cy="22860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Provides automatic content updates</a:t>
            </a:r>
            <a:endParaRPr lang="en-US" sz="1100" dirty="0"/>
          </a:p>
        </p:txBody>
      </p:sp>
      <p:sp>
        <p:nvSpPr>
          <p:cNvPr id="19" name="Text 17"/>
          <p:cNvSpPr/>
          <p:nvPr/>
        </p:nvSpPr>
        <p:spPr>
          <a:xfrm>
            <a:off x="4572000" y="1005840"/>
            <a:ext cx="4114800" cy="365760"/>
          </a:xfrm>
          <a:prstGeom prst="rect">
            <a:avLst/>
          </a:prstGeom>
          <a:noFill/>
          <a:ln/>
        </p:spPr>
        <p:txBody>
          <a:bodyPr wrap="square" rtlCol="0" anchor="ctr"/>
          <a:lstStyle/>
          <a:p>
            <a:pPr indent="0" marL="0">
              <a:buNone/>
            </a:pPr>
            <a:r>
              <a:rPr lang="en-US" sz="1800" b="1" dirty="0">
                <a:solidFill>
                  <a:srgbClr val="2E75B6"/>
                </a:solidFill>
                <a:latin typeface="Arial" pitchFamily="34" charset="0"/>
                <a:ea typeface="Arial" pitchFamily="34" charset="-122"/>
                <a:cs typeface="Arial" pitchFamily="34" charset="-120"/>
              </a:rPr>
              <a:t>Key System Features</a:t>
            </a:r>
            <a:endParaRPr lang="en-US" sz="1800" dirty="0"/>
          </a:p>
        </p:txBody>
      </p:sp>
      <p:sp>
        <p:nvSpPr>
          <p:cNvPr id="20" name="Text 18"/>
          <p:cNvSpPr/>
          <p:nvPr/>
        </p:nvSpPr>
        <p:spPr>
          <a:xfrm>
            <a:off x="4663440" y="1554480"/>
            <a:ext cx="274320" cy="228600"/>
          </a:xfrm>
          <a:prstGeom prst="rect">
            <a:avLst/>
          </a:prstGeom>
          <a:noFill/>
          <a:ln/>
        </p:spPr>
        <p:txBody>
          <a:bodyPr wrap="square" rtlCol="0" anchor="ctr"/>
          <a:lstStyle/>
          <a:p>
            <a:pPr indent="0" marL="0">
              <a:buNone/>
            </a:pPr>
            <a:r>
              <a:rPr lang="en-US" sz="1600" b="1" dirty="0">
                <a:solidFill>
                  <a:srgbClr val="70AD47"/>
                </a:solidFill>
                <a:latin typeface="Arial" pitchFamily="34" charset="0"/>
                <a:ea typeface="Arial" pitchFamily="34" charset="-122"/>
                <a:cs typeface="Arial" pitchFamily="34" charset="-120"/>
              </a:rPr>
              <a:t>✓</a:t>
            </a:r>
            <a:endParaRPr lang="en-US" sz="1600" dirty="0"/>
          </a:p>
        </p:txBody>
      </p:sp>
      <p:sp>
        <p:nvSpPr>
          <p:cNvPr id="21" name="Text 19"/>
          <p:cNvSpPr/>
          <p:nvPr/>
        </p:nvSpPr>
        <p:spPr>
          <a:xfrm>
            <a:off x="5029200" y="1554480"/>
            <a:ext cx="3657600" cy="2286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Secure Login &amp; Authentication</a:t>
            </a:r>
            <a:endParaRPr lang="en-US" sz="1300" dirty="0"/>
          </a:p>
        </p:txBody>
      </p:sp>
      <p:sp>
        <p:nvSpPr>
          <p:cNvPr id="22" name="Text 20"/>
          <p:cNvSpPr/>
          <p:nvPr/>
        </p:nvSpPr>
        <p:spPr>
          <a:xfrm>
            <a:off x="4663440" y="1920240"/>
            <a:ext cx="274320" cy="228600"/>
          </a:xfrm>
          <a:prstGeom prst="rect">
            <a:avLst/>
          </a:prstGeom>
          <a:noFill/>
          <a:ln/>
        </p:spPr>
        <p:txBody>
          <a:bodyPr wrap="square" rtlCol="0" anchor="ctr"/>
          <a:lstStyle/>
          <a:p>
            <a:pPr indent="0" marL="0">
              <a:buNone/>
            </a:pPr>
            <a:r>
              <a:rPr lang="en-US" sz="1600" b="1" dirty="0">
                <a:solidFill>
                  <a:srgbClr val="70AD47"/>
                </a:solidFill>
                <a:latin typeface="Arial" pitchFamily="34" charset="0"/>
                <a:ea typeface="Arial" pitchFamily="34" charset="-122"/>
                <a:cs typeface="Arial" pitchFamily="34" charset="-120"/>
              </a:rPr>
              <a:t>✓</a:t>
            </a:r>
            <a:endParaRPr lang="en-US" sz="1600" dirty="0"/>
          </a:p>
        </p:txBody>
      </p:sp>
      <p:sp>
        <p:nvSpPr>
          <p:cNvPr id="23" name="Text 21"/>
          <p:cNvSpPr/>
          <p:nvPr/>
        </p:nvSpPr>
        <p:spPr>
          <a:xfrm>
            <a:off x="5029200" y="1920240"/>
            <a:ext cx="3657600" cy="2286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Online Package Purchase</a:t>
            </a:r>
            <a:endParaRPr lang="en-US" sz="1300" dirty="0"/>
          </a:p>
        </p:txBody>
      </p:sp>
      <p:sp>
        <p:nvSpPr>
          <p:cNvPr id="24" name="Text 22"/>
          <p:cNvSpPr/>
          <p:nvPr/>
        </p:nvSpPr>
        <p:spPr>
          <a:xfrm>
            <a:off x="4663440" y="2286000"/>
            <a:ext cx="274320" cy="228600"/>
          </a:xfrm>
          <a:prstGeom prst="rect">
            <a:avLst/>
          </a:prstGeom>
          <a:noFill/>
          <a:ln/>
        </p:spPr>
        <p:txBody>
          <a:bodyPr wrap="square" rtlCol="0" anchor="ctr"/>
          <a:lstStyle/>
          <a:p>
            <a:pPr indent="0" marL="0">
              <a:buNone/>
            </a:pPr>
            <a:r>
              <a:rPr lang="en-US" sz="1600" b="1" dirty="0">
                <a:solidFill>
                  <a:srgbClr val="70AD47"/>
                </a:solidFill>
                <a:latin typeface="Arial" pitchFamily="34" charset="0"/>
                <a:ea typeface="Arial" pitchFamily="34" charset="-122"/>
                <a:cs typeface="Arial" pitchFamily="34" charset="-120"/>
              </a:rPr>
              <a:t>✓</a:t>
            </a:r>
            <a:endParaRPr lang="en-US" sz="1600" dirty="0"/>
          </a:p>
        </p:txBody>
      </p:sp>
      <p:sp>
        <p:nvSpPr>
          <p:cNvPr id="25" name="Text 23"/>
          <p:cNvSpPr/>
          <p:nvPr/>
        </p:nvSpPr>
        <p:spPr>
          <a:xfrm>
            <a:off x="5029200" y="2286000"/>
            <a:ext cx="3657600" cy="2286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Real-Time Lesson Scheduling</a:t>
            </a:r>
            <a:endParaRPr lang="en-US" sz="1300" dirty="0"/>
          </a:p>
        </p:txBody>
      </p:sp>
      <p:sp>
        <p:nvSpPr>
          <p:cNvPr id="26" name="Text 24"/>
          <p:cNvSpPr/>
          <p:nvPr/>
        </p:nvSpPr>
        <p:spPr>
          <a:xfrm>
            <a:off x="4663440" y="2651760"/>
            <a:ext cx="274320" cy="228600"/>
          </a:xfrm>
          <a:prstGeom prst="rect">
            <a:avLst/>
          </a:prstGeom>
          <a:noFill/>
          <a:ln/>
        </p:spPr>
        <p:txBody>
          <a:bodyPr wrap="square" rtlCol="0" anchor="ctr"/>
          <a:lstStyle/>
          <a:p>
            <a:pPr indent="0" marL="0">
              <a:buNone/>
            </a:pPr>
            <a:r>
              <a:rPr lang="en-US" sz="1600" b="1" dirty="0">
                <a:solidFill>
                  <a:srgbClr val="70AD47"/>
                </a:solidFill>
                <a:latin typeface="Arial" pitchFamily="34" charset="0"/>
                <a:ea typeface="Arial" pitchFamily="34" charset="-122"/>
                <a:cs typeface="Arial" pitchFamily="34" charset="-120"/>
              </a:rPr>
              <a:t>✓</a:t>
            </a:r>
            <a:endParaRPr lang="en-US" sz="1600" dirty="0"/>
          </a:p>
        </p:txBody>
      </p:sp>
      <p:sp>
        <p:nvSpPr>
          <p:cNvPr id="27" name="Text 25"/>
          <p:cNvSpPr/>
          <p:nvPr/>
        </p:nvSpPr>
        <p:spPr>
          <a:xfrm>
            <a:off x="5029200" y="2651760"/>
            <a:ext cx="3657600" cy="2286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Practice Test System</a:t>
            </a:r>
            <a:endParaRPr lang="en-US" sz="1300" dirty="0"/>
          </a:p>
        </p:txBody>
      </p:sp>
      <p:sp>
        <p:nvSpPr>
          <p:cNvPr id="28" name="Text 26"/>
          <p:cNvSpPr/>
          <p:nvPr/>
        </p:nvSpPr>
        <p:spPr>
          <a:xfrm>
            <a:off x="4663440" y="3017520"/>
            <a:ext cx="274320" cy="228600"/>
          </a:xfrm>
          <a:prstGeom prst="rect">
            <a:avLst/>
          </a:prstGeom>
          <a:noFill/>
          <a:ln/>
        </p:spPr>
        <p:txBody>
          <a:bodyPr wrap="square" rtlCol="0" anchor="ctr"/>
          <a:lstStyle/>
          <a:p>
            <a:pPr indent="0" marL="0">
              <a:buNone/>
            </a:pPr>
            <a:r>
              <a:rPr lang="en-US" sz="1600" b="1" dirty="0">
                <a:solidFill>
                  <a:srgbClr val="70AD47"/>
                </a:solidFill>
                <a:latin typeface="Arial" pitchFamily="34" charset="0"/>
                <a:ea typeface="Arial" pitchFamily="34" charset="-122"/>
                <a:cs typeface="Arial" pitchFamily="34" charset="-120"/>
              </a:rPr>
              <a:t>✓</a:t>
            </a:r>
            <a:endParaRPr lang="en-US" sz="1600" dirty="0"/>
          </a:p>
        </p:txBody>
      </p:sp>
      <p:sp>
        <p:nvSpPr>
          <p:cNvPr id="29" name="Text 27"/>
          <p:cNvSpPr/>
          <p:nvPr/>
        </p:nvSpPr>
        <p:spPr>
          <a:xfrm>
            <a:off x="5029200" y="3017520"/>
            <a:ext cx="3657600" cy="2286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Progress Tracking Dashboard</a:t>
            </a:r>
            <a:endParaRPr lang="en-US" sz="1300" dirty="0"/>
          </a:p>
        </p:txBody>
      </p:sp>
      <p:sp>
        <p:nvSpPr>
          <p:cNvPr id="30" name="Text 28"/>
          <p:cNvSpPr/>
          <p:nvPr/>
        </p:nvSpPr>
        <p:spPr>
          <a:xfrm>
            <a:off x="4663440" y="3383280"/>
            <a:ext cx="274320" cy="228600"/>
          </a:xfrm>
          <a:prstGeom prst="rect">
            <a:avLst/>
          </a:prstGeom>
          <a:noFill/>
          <a:ln/>
        </p:spPr>
        <p:txBody>
          <a:bodyPr wrap="square" rtlCol="0" anchor="ctr"/>
          <a:lstStyle/>
          <a:p>
            <a:pPr indent="0" marL="0">
              <a:buNone/>
            </a:pPr>
            <a:r>
              <a:rPr lang="en-US" sz="1600" b="1" dirty="0">
                <a:solidFill>
                  <a:srgbClr val="70AD47"/>
                </a:solidFill>
                <a:latin typeface="Arial" pitchFamily="34" charset="0"/>
                <a:ea typeface="Arial" pitchFamily="34" charset="-122"/>
                <a:cs typeface="Arial" pitchFamily="34" charset="-120"/>
              </a:rPr>
              <a:t>✓</a:t>
            </a:r>
            <a:endParaRPr lang="en-US" sz="1600" dirty="0"/>
          </a:p>
        </p:txBody>
      </p:sp>
      <p:sp>
        <p:nvSpPr>
          <p:cNvPr id="31" name="Text 29"/>
          <p:cNvSpPr/>
          <p:nvPr/>
        </p:nvSpPr>
        <p:spPr>
          <a:xfrm>
            <a:off x="5029200" y="3383280"/>
            <a:ext cx="3657600" cy="2286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Automated Email Notifications</a:t>
            </a:r>
            <a:endParaRPr lang="en-US" sz="1300" dirty="0"/>
          </a:p>
        </p:txBody>
      </p:sp>
      <p:sp>
        <p:nvSpPr>
          <p:cNvPr id="32" name="Text 30"/>
          <p:cNvSpPr/>
          <p:nvPr/>
        </p:nvSpPr>
        <p:spPr>
          <a:xfrm>
            <a:off x="4663440" y="3749040"/>
            <a:ext cx="274320" cy="228600"/>
          </a:xfrm>
          <a:prstGeom prst="rect">
            <a:avLst/>
          </a:prstGeom>
          <a:noFill/>
          <a:ln/>
        </p:spPr>
        <p:txBody>
          <a:bodyPr wrap="square" rtlCol="0" anchor="ctr"/>
          <a:lstStyle/>
          <a:p>
            <a:pPr indent="0" marL="0">
              <a:buNone/>
            </a:pPr>
            <a:r>
              <a:rPr lang="en-US" sz="1600" b="1" dirty="0">
                <a:solidFill>
                  <a:srgbClr val="70AD47"/>
                </a:solidFill>
                <a:latin typeface="Arial" pitchFamily="34" charset="0"/>
                <a:ea typeface="Arial" pitchFamily="34" charset="-122"/>
                <a:cs typeface="Arial" pitchFamily="34" charset="-120"/>
              </a:rPr>
              <a:t>✓</a:t>
            </a:r>
            <a:endParaRPr lang="en-US" sz="1600" dirty="0"/>
          </a:p>
        </p:txBody>
      </p:sp>
      <p:sp>
        <p:nvSpPr>
          <p:cNvPr id="33" name="Text 31"/>
          <p:cNvSpPr/>
          <p:nvPr/>
        </p:nvSpPr>
        <p:spPr>
          <a:xfrm>
            <a:off x="5029200" y="3749040"/>
            <a:ext cx="3657600" cy="2286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Activity Logging &amp; Reports</a:t>
            </a:r>
            <a:endParaRPr lang="en-US" sz="1300" dirty="0"/>
          </a:p>
        </p:txBody>
      </p:sp>
      <p:sp>
        <p:nvSpPr>
          <p:cNvPr id="34" name="Text 32"/>
          <p:cNvSpPr/>
          <p:nvPr/>
        </p:nvSpPr>
        <p:spPr>
          <a:xfrm>
            <a:off x="4663440" y="4114800"/>
            <a:ext cx="274320" cy="228600"/>
          </a:xfrm>
          <a:prstGeom prst="rect">
            <a:avLst/>
          </a:prstGeom>
          <a:noFill/>
          <a:ln/>
        </p:spPr>
        <p:txBody>
          <a:bodyPr wrap="square" rtlCol="0" anchor="ctr"/>
          <a:lstStyle/>
          <a:p>
            <a:pPr indent="0" marL="0">
              <a:buNone/>
            </a:pPr>
            <a:r>
              <a:rPr lang="en-US" sz="1600" b="1" dirty="0">
                <a:solidFill>
                  <a:srgbClr val="70AD47"/>
                </a:solidFill>
                <a:latin typeface="Arial" pitchFamily="34" charset="0"/>
                <a:ea typeface="Arial" pitchFamily="34" charset="-122"/>
                <a:cs typeface="Arial" pitchFamily="34" charset="-120"/>
              </a:rPr>
              <a:t>✓</a:t>
            </a:r>
            <a:endParaRPr lang="en-US" sz="1600" dirty="0"/>
          </a:p>
        </p:txBody>
      </p:sp>
      <p:sp>
        <p:nvSpPr>
          <p:cNvPr id="35" name="Text 33"/>
          <p:cNvSpPr/>
          <p:nvPr/>
        </p:nvSpPr>
        <p:spPr>
          <a:xfrm>
            <a:off x="5029200" y="4114800"/>
            <a:ext cx="3657600" cy="228600"/>
          </a:xfrm>
          <a:prstGeom prst="rect">
            <a:avLst/>
          </a:prstGeom>
          <a:noFill/>
          <a:ln/>
        </p:spPr>
        <p:txBody>
          <a:bodyPr wrap="square" rtlCol="0" anchor="ctr"/>
          <a:lstStyle/>
          <a:p>
            <a:pPr indent="0" marL="0">
              <a:buNone/>
            </a:pPr>
            <a:r>
              <a:rPr lang="en-US" sz="1300" dirty="0">
                <a:solidFill>
                  <a:srgbClr val="333333"/>
                </a:solidFill>
                <a:latin typeface="Arial" pitchFamily="34" charset="0"/>
                <a:ea typeface="Arial" pitchFamily="34" charset="-122"/>
                <a:cs typeface="Arial" pitchFamily="34" charset="-120"/>
              </a:rPr>
              <a:t>Driver Assignment System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1F4E78"/>
                </a:solidFill>
                <a:latin typeface="Arial" pitchFamily="34" charset="0"/>
                <a:ea typeface="Arial" pitchFamily="34" charset="-122"/>
                <a:cs typeface="Arial" pitchFamily="34" charset="-120"/>
              </a:rPr>
              <a:t>How Customers Schedule Lessons</a:t>
            </a:r>
            <a:endParaRPr lang="en-US" sz="3200" dirty="0"/>
          </a:p>
        </p:txBody>
      </p:sp>
      <p:sp>
        <p:nvSpPr>
          <p:cNvPr id="3" name="Text 1"/>
          <p:cNvSpPr/>
          <p:nvPr/>
        </p:nvSpPr>
        <p:spPr>
          <a:xfrm>
            <a:off x="457200" y="914400"/>
            <a:ext cx="8229600" cy="274320"/>
          </a:xfrm>
          <a:prstGeom prst="rect">
            <a:avLst/>
          </a:prstGeom>
          <a:noFill/>
          <a:ln/>
        </p:spPr>
        <p:txBody>
          <a:bodyPr wrap="square" rtlCol="0" anchor="ctr"/>
          <a:lstStyle/>
          <a:p>
            <a:pPr indent="0" marL="0">
              <a:buNone/>
            </a:pPr>
            <a:r>
              <a:rPr lang="en-US" sz="1800" b="1" dirty="0">
                <a:solidFill>
                  <a:srgbClr val="2E75B6"/>
                </a:solidFill>
                <a:latin typeface="Arial" pitchFamily="34" charset="0"/>
                <a:ea typeface="Arial" pitchFamily="34" charset="-122"/>
                <a:cs typeface="Arial" pitchFamily="34" charset="-120"/>
              </a:rPr>
              <a:t>Step-by-Step Workflow</a:t>
            </a:r>
            <a:endParaRPr lang="en-US" sz="1800" dirty="0"/>
          </a:p>
        </p:txBody>
      </p:sp>
      <p:sp>
        <p:nvSpPr>
          <p:cNvPr id="4" name="Shape 2"/>
          <p:cNvSpPr/>
          <p:nvPr/>
        </p:nvSpPr>
        <p:spPr>
          <a:xfrm>
            <a:off x="640080" y="1371600"/>
            <a:ext cx="365760" cy="365760"/>
          </a:xfrm>
          <a:prstGeom prst="ellipse">
            <a:avLst/>
          </a:prstGeom>
          <a:solidFill>
            <a:srgbClr val="70AD47"/>
          </a:solidFill>
          <a:ln/>
        </p:spPr>
      </p:sp>
      <p:sp>
        <p:nvSpPr>
          <p:cNvPr id="5" name="Text 3"/>
          <p:cNvSpPr/>
          <p:nvPr/>
        </p:nvSpPr>
        <p:spPr>
          <a:xfrm>
            <a:off x="640080" y="137160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Shape 4"/>
          <p:cNvSpPr/>
          <p:nvPr/>
        </p:nvSpPr>
        <p:spPr>
          <a:xfrm>
            <a:off x="1188720" y="1371600"/>
            <a:ext cx="2926080" cy="457200"/>
          </a:xfrm>
          <a:prstGeom prst="rect">
            <a:avLst/>
          </a:prstGeom>
          <a:solidFill>
            <a:srgbClr val="5B9BD5"/>
          </a:solidFill>
          <a:ln w="12700">
            <a:solidFill>
              <a:srgbClr val="2E75B6"/>
            </a:solidFill>
            <a:prstDash val="solid"/>
          </a:ln>
        </p:spPr>
      </p:sp>
      <p:sp>
        <p:nvSpPr>
          <p:cNvPr id="7" name="Text 5"/>
          <p:cNvSpPr/>
          <p:nvPr/>
        </p:nvSpPr>
        <p:spPr>
          <a:xfrm>
            <a:off x="1280160" y="1463040"/>
            <a:ext cx="27432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Customer Login</a:t>
            </a:r>
            <a:endParaRPr lang="en-US" sz="1400" dirty="0"/>
          </a:p>
        </p:txBody>
      </p:sp>
      <p:sp>
        <p:nvSpPr>
          <p:cNvPr id="8" name="Text 6"/>
          <p:cNvSpPr/>
          <p:nvPr/>
        </p:nvSpPr>
        <p:spPr>
          <a:xfrm>
            <a:off x="4297680" y="1444752"/>
            <a:ext cx="4389120" cy="32004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Secure authentication verifies identity</a:t>
            </a:r>
            <a:endParaRPr lang="en-US" sz="1200" dirty="0"/>
          </a:p>
        </p:txBody>
      </p:sp>
      <p:sp>
        <p:nvSpPr>
          <p:cNvPr id="9" name="Shape 7"/>
          <p:cNvSpPr/>
          <p:nvPr/>
        </p:nvSpPr>
        <p:spPr>
          <a:xfrm rot="10800000">
            <a:off x="804672" y="1828800"/>
            <a:ext cx="73152" cy="137160"/>
          </a:xfrm>
          <a:prstGeom prst="rtTriangle">
            <a:avLst/>
          </a:prstGeom>
          <a:solidFill>
            <a:srgbClr val="70AD47"/>
          </a:solidFill>
          <a:ln/>
        </p:spPr>
      </p:sp>
      <p:sp>
        <p:nvSpPr>
          <p:cNvPr id="10" name="Shape 8"/>
          <p:cNvSpPr/>
          <p:nvPr/>
        </p:nvSpPr>
        <p:spPr>
          <a:xfrm>
            <a:off x="640080" y="1965960"/>
            <a:ext cx="365760" cy="365760"/>
          </a:xfrm>
          <a:prstGeom prst="ellipse">
            <a:avLst/>
          </a:prstGeom>
          <a:solidFill>
            <a:srgbClr val="70AD47"/>
          </a:solidFill>
          <a:ln/>
        </p:spPr>
      </p:sp>
      <p:sp>
        <p:nvSpPr>
          <p:cNvPr id="11" name="Text 9"/>
          <p:cNvSpPr/>
          <p:nvPr/>
        </p:nvSpPr>
        <p:spPr>
          <a:xfrm>
            <a:off x="640080" y="196596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Shape 10"/>
          <p:cNvSpPr/>
          <p:nvPr/>
        </p:nvSpPr>
        <p:spPr>
          <a:xfrm>
            <a:off x="1188720" y="1965960"/>
            <a:ext cx="2926080" cy="457200"/>
          </a:xfrm>
          <a:prstGeom prst="rect">
            <a:avLst/>
          </a:prstGeom>
          <a:solidFill>
            <a:srgbClr val="5B9BD5"/>
          </a:solidFill>
          <a:ln w="12700">
            <a:solidFill>
              <a:srgbClr val="2E75B6"/>
            </a:solidFill>
            <a:prstDash val="solid"/>
          </a:ln>
        </p:spPr>
      </p:sp>
      <p:sp>
        <p:nvSpPr>
          <p:cNvPr id="13" name="Text 11"/>
          <p:cNvSpPr/>
          <p:nvPr/>
        </p:nvSpPr>
        <p:spPr>
          <a:xfrm>
            <a:off x="1280160" y="2057400"/>
            <a:ext cx="27432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View Availability</a:t>
            </a:r>
            <a:endParaRPr lang="en-US" sz="1400" dirty="0"/>
          </a:p>
        </p:txBody>
      </p:sp>
      <p:sp>
        <p:nvSpPr>
          <p:cNvPr id="14" name="Text 12"/>
          <p:cNvSpPr/>
          <p:nvPr/>
        </p:nvSpPr>
        <p:spPr>
          <a:xfrm>
            <a:off x="4297680" y="2039112"/>
            <a:ext cx="4389120" cy="32004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System shows available dates, times, and instructors</a:t>
            </a:r>
            <a:endParaRPr lang="en-US" sz="1200" dirty="0"/>
          </a:p>
        </p:txBody>
      </p:sp>
      <p:sp>
        <p:nvSpPr>
          <p:cNvPr id="15" name="Shape 13"/>
          <p:cNvSpPr/>
          <p:nvPr/>
        </p:nvSpPr>
        <p:spPr>
          <a:xfrm rot="10800000">
            <a:off x="804672" y="2423160"/>
            <a:ext cx="73152" cy="137160"/>
          </a:xfrm>
          <a:prstGeom prst="rtTriangle">
            <a:avLst/>
          </a:prstGeom>
          <a:solidFill>
            <a:srgbClr val="70AD47"/>
          </a:solidFill>
          <a:ln/>
        </p:spPr>
      </p:sp>
      <p:sp>
        <p:nvSpPr>
          <p:cNvPr id="16" name="Shape 14"/>
          <p:cNvSpPr/>
          <p:nvPr/>
        </p:nvSpPr>
        <p:spPr>
          <a:xfrm>
            <a:off x="640080" y="2560320"/>
            <a:ext cx="365760" cy="365760"/>
          </a:xfrm>
          <a:prstGeom prst="ellipse">
            <a:avLst/>
          </a:prstGeom>
          <a:solidFill>
            <a:srgbClr val="70AD47"/>
          </a:solidFill>
          <a:ln/>
        </p:spPr>
      </p:sp>
      <p:sp>
        <p:nvSpPr>
          <p:cNvPr id="17" name="Text 15"/>
          <p:cNvSpPr/>
          <p:nvPr/>
        </p:nvSpPr>
        <p:spPr>
          <a:xfrm>
            <a:off x="640080" y="256032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Shape 16"/>
          <p:cNvSpPr/>
          <p:nvPr/>
        </p:nvSpPr>
        <p:spPr>
          <a:xfrm>
            <a:off x="1188720" y="2560320"/>
            <a:ext cx="2926080" cy="457200"/>
          </a:xfrm>
          <a:prstGeom prst="rect">
            <a:avLst/>
          </a:prstGeom>
          <a:solidFill>
            <a:srgbClr val="5B9BD5"/>
          </a:solidFill>
          <a:ln w="12700">
            <a:solidFill>
              <a:srgbClr val="2E75B6"/>
            </a:solidFill>
            <a:prstDash val="solid"/>
          </a:ln>
        </p:spPr>
      </p:sp>
      <p:sp>
        <p:nvSpPr>
          <p:cNvPr id="19" name="Text 17"/>
          <p:cNvSpPr/>
          <p:nvPr/>
        </p:nvSpPr>
        <p:spPr>
          <a:xfrm>
            <a:off x="1280160" y="2651760"/>
            <a:ext cx="27432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Select Package &amp; Time</a:t>
            </a:r>
            <a:endParaRPr lang="en-US" sz="1400" dirty="0"/>
          </a:p>
        </p:txBody>
      </p:sp>
      <p:sp>
        <p:nvSpPr>
          <p:cNvPr id="20" name="Text 18"/>
          <p:cNvSpPr/>
          <p:nvPr/>
        </p:nvSpPr>
        <p:spPr>
          <a:xfrm>
            <a:off x="4297680" y="2633472"/>
            <a:ext cx="4389120" cy="32004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Choose from Package 1, 2, or 3 and preferred slot</a:t>
            </a:r>
            <a:endParaRPr lang="en-US" sz="1200" dirty="0"/>
          </a:p>
        </p:txBody>
      </p:sp>
      <p:sp>
        <p:nvSpPr>
          <p:cNvPr id="21" name="Shape 19"/>
          <p:cNvSpPr/>
          <p:nvPr/>
        </p:nvSpPr>
        <p:spPr>
          <a:xfrm rot="10800000">
            <a:off x="804672" y="3017520"/>
            <a:ext cx="73152" cy="137160"/>
          </a:xfrm>
          <a:prstGeom prst="rtTriangle">
            <a:avLst/>
          </a:prstGeom>
          <a:solidFill>
            <a:srgbClr val="70AD47"/>
          </a:solidFill>
          <a:ln/>
        </p:spPr>
      </p:sp>
      <p:sp>
        <p:nvSpPr>
          <p:cNvPr id="22" name="Shape 20"/>
          <p:cNvSpPr/>
          <p:nvPr/>
        </p:nvSpPr>
        <p:spPr>
          <a:xfrm>
            <a:off x="640080" y="3154680"/>
            <a:ext cx="365760" cy="365760"/>
          </a:xfrm>
          <a:prstGeom prst="ellipse">
            <a:avLst/>
          </a:prstGeom>
          <a:solidFill>
            <a:srgbClr val="70AD47"/>
          </a:solidFill>
          <a:ln/>
        </p:spPr>
      </p:sp>
      <p:sp>
        <p:nvSpPr>
          <p:cNvPr id="23" name="Text 21"/>
          <p:cNvSpPr/>
          <p:nvPr/>
        </p:nvSpPr>
        <p:spPr>
          <a:xfrm>
            <a:off x="640080" y="315468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Shape 22"/>
          <p:cNvSpPr/>
          <p:nvPr/>
        </p:nvSpPr>
        <p:spPr>
          <a:xfrm>
            <a:off x="1188720" y="3154680"/>
            <a:ext cx="2926080" cy="457200"/>
          </a:xfrm>
          <a:prstGeom prst="rect">
            <a:avLst/>
          </a:prstGeom>
          <a:solidFill>
            <a:srgbClr val="5B9BD5"/>
          </a:solidFill>
          <a:ln w="12700">
            <a:solidFill>
              <a:srgbClr val="2E75B6"/>
            </a:solidFill>
            <a:prstDash val="solid"/>
          </a:ln>
        </p:spPr>
      </p:sp>
      <p:sp>
        <p:nvSpPr>
          <p:cNvPr id="25" name="Text 23"/>
          <p:cNvSpPr/>
          <p:nvPr/>
        </p:nvSpPr>
        <p:spPr>
          <a:xfrm>
            <a:off x="1280160" y="3246120"/>
            <a:ext cx="27432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Process Payment</a:t>
            </a:r>
            <a:endParaRPr lang="en-US" sz="1400" dirty="0"/>
          </a:p>
        </p:txBody>
      </p:sp>
      <p:sp>
        <p:nvSpPr>
          <p:cNvPr id="26" name="Text 24"/>
          <p:cNvSpPr/>
          <p:nvPr/>
        </p:nvSpPr>
        <p:spPr>
          <a:xfrm>
            <a:off x="4297680" y="3227832"/>
            <a:ext cx="4389120" cy="32004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Secure payment processing with instant verification</a:t>
            </a:r>
            <a:endParaRPr lang="en-US" sz="1200" dirty="0"/>
          </a:p>
        </p:txBody>
      </p:sp>
      <p:sp>
        <p:nvSpPr>
          <p:cNvPr id="27" name="Shape 25"/>
          <p:cNvSpPr/>
          <p:nvPr/>
        </p:nvSpPr>
        <p:spPr>
          <a:xfrm rot="10800000">
            <a:off x="804672" y="3611880"/>
            <a:ext cx="73152" cy="137160"/>
          </a:xfrm>
          <a:prstGeom prst="rtTriangle">
            <a:avLst/>
          </a:prstGeom>
          <a:solidFill>
            <a:srgbClr val="70AD47"/>
          </a:solidFill>
          <a:ln/>
        </p:spPr>
      </p:sp>
      <p:sp>
        <p:nvSpPr>
          <p:cNvPr id="28" name="Shape 26"/>
          <p:cNvSpPr/>
          <p:nvPr/>
        </p:nvSpPr>
        <p:spPr>
          <a:xfrm>
            <a:off x="640080" y="3749040"/>
            <a:ext cx="365760" cy="365760"/>
          </a:xfrm>
          <a:prstGeom prst="ellipse">
            <a:avLst/>
          </a:prstGeom>
          <a:solidFill>
            <a:srgbClr val="70AD47"/>
          </a:solidFill>
          <a:ln/>
        </p:spPr>
      </p:sp>
      <p:sp>
        <p:nvSpPr>
          <p:cNvPr id="29" name="Text 27"/>
          <p:cNvSpPr/>
          <p:nvPr/>
        </p:nvSpPr>
        <p:spPr>
          <a:xfrm>
            <a:off x="640080" y="37490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0" name="Shape 28"/>
          <p:cNvSpPr/>
          <p:nvPr/>
        </p:nvSpPr>
        <p:spPr>
          <a:xfrm>
            <a:off x="1188720" y="3749040"/>
            <a:ext cx="2926080" cy="457200"/>
          </a:xfrm>
          <a:prstGeom prst="rect">
            <a:avLst/>
          </a:prstGeom>
          <a:solidFill>
            <a:srgbClr val="5B9BD5"/>
          </a:solidFill>
          <a:ln w="12700">
            <a:solidFill>
              <a:srgbClr val="2E75B6"/>
            </a:solidFill>
            <a:prstDash val="solid"/>
          </a:ln>
        </p:spPr>
      </p:sp>
      <p:sp>
        <p:nvSpPr>
          <p:cNvPr id="31" name="Text 29"/>
          <p:cNvSpPr/>
          <p:nvPr/>
        </p:nvSpPr>
        <p:spPr>
          <a:xfrm>
            <a:off x="1280160" y="3840480"/>
            <a:ext cx="27432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Assign Resources</a:t>
            </a:r>
            <a:endParaRPr lang="en-US" sz="1400" dirty="0"/>
          </a:p>
        </p:txBody>
      </p:sp>
      <p:sp>
        <p:nvSpPr>
          <p:cNvPr id="32" name="Text 30"/>
          <p:cNvSpPr/>
          <p:nvPr/>
        </p:nvSpPr>
        <p:spPr>
          <a:xfrm>
            <a:off x="4297680" y="3822192"/>
            <a:ext cx="4389120" cy="32004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System automatically assigns driver and vehicle</a:t>
            </a:r>
            <a:endParaRPr lang="en-US" sz="1200" dirty="0"/>
          </a:p>
        </p:txBody>
      </p:sp>
      <p:sp>
        <p:nvSpPr>
          <p:cNvPr id="33" name="Shape 31"/>
          <p:cNvSpPr/>
          <p:nvPr/>
        </p:nvSpPr>
        <p:spPr>
          <a:xfrm rot="10800000">
            <a:off x="804672" y="4206240"/>
            <a:ext cx="73152" cy="137160"/>
          </a:xfrm>
          <a:prstGeom prst="rtTriangle">
            <a:avLst/>
          </a:prstGeom>
          <a:solidFill>
            <a:srgbClr val="70AD47"/>
          </a:solidFill>
          <a:ln/>
        </p:spPr>
      </p:sp>
      <p:sp>
        <p:nvSpPr>
          <p:cNvPr id="34" name="Shape 32"/>
          <p:cNvSpPr/>
          <p:nvPr/>
        </p:nvSpPr>
        <p:spPr>
          <a:xfrm>
            <a:off x="640080" y="4343400"/>
            <a:ext cx="365760" cy="365760"/>
          </a:xfrm>
          <a:prstGeom prst="ellipse">
            <a:avLst/>
          </a:prstGeom>
          <a:solidFill>
            <a:srgbClr val="70AD47"/>
          </a:solidFill>
          <a:ln/>
        </p:spPr>
      </p:sp>
      <p:sp>
        <p:nvSpPr>
          <p:cNvPr id="35" name="Text 33"/>
          <p:cNvSpPr/>
          <p:nvPr/>
        </p:nvSpPr>
        <p:spPr>
          <a:xfrm>
            <a:off x="640080" y="434340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6" name="Shape 34"/>
          <p:cNvSpPr/>
          <p:nvPr/>
        </p:nvSpPr>
        <p:spPr>
          <a:xfrm>
            <a:off x="1188720" y="4343400"/>
            <a:ext cx="2926080" cy="457200"/>
          </a:xfrm>
          <a:prstGeom prst="rect">
            <a:avLst/>
          </a:prstGeom>
          <a:solidFill>
            <a:srgbClr val="5B9BD5"/>
          </a:solidFill>
          <a:ln w="12700">
            <a:solidFill>
              <a:srgbClr val="2E75B6"/>
            </a:solidFill>
            <a:prstDash val="solid"/>
          </a:ln>
        </p:spPr>
      </p:sp>
      <p:sp>
        <p:nvSpPr>
          <p:cNvPr id="37" name="Text 35"/>
          <p:cNvSpPr/>
          <p:nvPr/>
        </p:nvSpPr>
        <p:spPr>
          <a:xfrm>
            <a:off x="1280160" y="4434840"/>
            <a:ext cx="274320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Send Confirmation</a:t>
            </a:r>
            <a:endParaRPr lang="en-US" sz="1400" dirty="0"/>
          </a:p>
        </p:txBody>
      </p:sp>
      <p:sp>
        <p:nvSpPr>
          <p:cNvPr id="38" name="Text 36"/>
          <p:cNvSpPr/>
          <p:nvPr/>
        </p:nvSpPr>
        <p:spPr>
          <a:xfrm>
            <a:off x="4297680" y="4416552"/>
            <a:ext cx="4389120" cy="32004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Customer receives email with lesson details</a:t>
            </a:r>
            <a:endParaRPr lang="en-US" sz="1200" dirty="0"/>
          </a:p>
        </p:txBody>
      </p:sp>
      <p:sp>
        <p:nvSpPr>
          <p:cNvPr id="39" name="Shape 37"/>
          <p:cNvSpPr/>
          <p:nvPr/>
        </p:nvSpPr>
        <p:spPr>
          <a:xfrm>
            <a:off x="457200" y="4846320"/>
            <a:ext cx="8229600" cy="548640"/>
          </a:xfrm>
          <a:prstGeom prst="rect">
            <a:avLst/>
          </a:prstGeom>
          <a:solidFill>
            <a:srgbClr val="F2F2F2"/>
          </a:solidFill>
          <a:ln/>
        </p:spPr>
      </p:sp>
      <p:sp>
        <p:nvSpPr>
          <p:cNvPr id="40" name="Text 38"/>
          <p:cNvSpPr/>
          <p:nvPr/>
        </p:nvSpPr>
        <p:spPr>
          <a:xfrm>
            <a:off x="640080" y="4937760"/>
            <a:ext cx="7863840" cy="365760"/>
          </a:xfrm>
          <a:prstGeom prst="rect">
            <a:avLst/>
          </a:prstGeom>
          <a:noFill/>
          <a:ln/>
        </p:spPr>
        <p:txBody>
          <a:bodyPr wrap="square" rtlCol="0" anchor="ctr"/>
          <a:lstStyle/>
          <a:p>
            <a:pPr indent="0" marL="0">
              <a:buNone/>
            </a:pPr>
            <a:r>
              <a:rPr lang="en-US" sz="1200" i="1" dirty="0">
                <a:solidFill>
                  <a:srgbClr val="555555"/>
                </a:solidFill>
                <a:latin typeface="Arial" pitchFamily="34" charset="0"/>
                <a:ea typeface="Arial" pitchFamily="34" charset="-122"/>
                <a:cs typeface="Arial" pitchFamily="34" charset="-120"/>
              </a:rPr>
              <a:t>This streamlined process ensures customers can book lessons quickly and easily, while the system handles all the complex coordination automatically.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1F4E78"/>
                </a:solidFill>
                <a:latin typeface="Arial" pitchFamily="34" charset="0"/>
                <a:ea typeface="Arial" pitchFamily="34" charset="-122"/>
                <a:cs typeface="Arial" pitchFamily="34" charset="-120"/>
              </a:rPr>
              <a:t>Security &amp; Data Protection</a:t>
            </a:r>
            <a:endParaRPr lang="en-US" sz="3200" dirty="0"/>
          </a:p>
        </p:txBody>
      </p:sp>
      <p:sp>
        <p:nvSpPr>
          <p:cNvPr id="3" name="Text 1"/>
          <p:cNvSpPr/>
          <p:nvPr/>
        </p:nvSpPr>
        <p:spPr>
          <a:xfrm>
            <a:off x="457200" y="914400"/>
            <a:ext cx="8229600" cy="274320"/>
          </a:xfrm>
          <a:prstGeom prst="rect">
            <a:avLst/>
          </a:prstGeom>
          <a:noFill/>
          <a:ln/>
        </p:spPr>
        <p:txBody>
          <a:bodyPr wrap="square" rtlCol="0" anchor="ctr"/>
          <a:lstStyle/>
          <a:p>
            <a:pPr indent="0" marL="0">
              <a:buNone/>
            </a:pPr>
            <a:r>
              <a:rPr lang="en-US" sz="1800" i="1" dirty="0">
                <a:solidFill>
                  <a:srgbClr val="2E75B6"/>
                </a:solidFill>
                <a:latin typeface="Arial" pitchFamily="34" charset="0"/>
                <a:ea typeface="Arial" pitchFamily="34" charset="-122"/>
                <a:cs typeface="Arial" pitchFamily="34" charset="-120"/>
              </a:rPr>
              <a:t>Protecting Your Business and Customers</a:t>
            </a:r>
            <a:endParaRPr lang="en-US" sz="1800" dirty="0"/>
          </a:p>
        </p:txBody>
      </p:sp>
      <p:sp>
        <p:nvSpPr>
          <p:cNvPr id="4" name="Shape 2"/>
          <p:cNvSpPr/>
          <p:nvPr/>
        </p:nvSpPr>
        <p:spPr>
          <a:xfrm>
            <a:off x="457200" y="1371600"/>
            <a:ext cx="4023360" cy="1188720"/>
          </a:xfrm>
          <a:prstGeom prst="rect">
            <a:avLst/>
          </a:prstGeom>
          <a:solidFill>
            <a:srgbClr val="FFFFFF"/>
          </a:solidFill>
          <a:ln w="25400">
            <a:solidFill>
              <a:srgbClr val="2E75B6"/>
            </a:solidFill>
            <a:prstDash val="solid"/>
          </a:ln>
        </p:spPr>
      </p:sp>
      <p:sp>
        <p:nvSpPr>
          <p:cNvPr id="5" name="Text 3"/>
          <p:cNvSpPr/>
          <p:nvPr/>
        </p:nvSpPr>
        <p:spPr>
          <a:xfrm>
            <a:off x="640080" y="1508760"/>
            <a:ext cx="3657600" cy="27432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Secure Authentication</a:t>
            </a:r>
            <a:endParaRPr lang="en-US" sz="1600" dirty="0"/>
          </a:p>
        </p:txBody>
      </p:sp>
      <p:sp>
        <p:nvSpPr>
          <p:cNvPr id="6" name="Text 4"/>
          <p:cNvSpPr/>
          <p:nvPr/>
        </p:nvSpPr>
        <p:spPr>
          <a:xfrm>
            <a:off x="731520" y="18288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Encrypted password storage</a:t>
            </a:r>
            <a:endParaRPr lang="en-US" sz="1200" dirty="0"/>
          </a:p>
        </p:txBody>
      </p:sp>
      <p:sp>
        <p:nvSpPr>
          <p:cNvPr id="7" name="Text 5"/>
          <p:cNvSpPr/>
          <p:nvPr/>
        </p:nvSpPr>
        <p:spPr>
          <a:xfrm>
            <a:off x="731520" y="20574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Multi-factor authentication for admins</a:t>
            </a:r>
            <a:endParaRPr lang="en-US" sz="1200" dirty="0"/>
          </a:p>
        </p:txBody>
      </p:sp>
      <p:sp>
        <p:nvSpPr>
          <p:cNvPr id="8" name="Text 6"/>
          <p:cNvSpPr/>
          <p:nvPr/>
        </p:nvSpPr>
        <p:spPr>
          <a:xfrm>
            <a:off x="731520" y="22860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Automatic account lockout protection</a:t>
            </a:r>
            <a:endParaRPr lang="en-US" sz="1200" dirty="0"/>
          </a:p>
        </p:txBody>
      </p:sp>
      <p:sp>
        <p:nvSpPr>
          <p:cNvPr id="9" name="Shape 7"/>
          <p:cNvSpPr/>
          <p:nvPr/>
        </p:nvSpPr>
        <p:spPr>
          <a:xfrm>
            <a:off x="457200" y="2743200"/>
            <a:ext cx="4023360" cy="1188720"/>
          </a:xfrm>
          <a:prstGeom prst="rect">
            <a:avLst/>
          </a:prstGeom>
          <a:solidFill>
            <a:srgbClr val="FFFFFF"/>
          </a:solidFill>
          <a:ln w="25400">
            <a:solidFill>
              <a:srgbClr val="2E75B6"/>
            </a:solidFill>
            <a:prstDash val="solid"/>
          </a:ln>
        </p:spPr>
      </p:sp>
      <p:sp>
        <p:nvSpPr>
          <p:cNvPr id="10" name="Text 8"/>
          <p:cNvSpPr/>
          <p:nvPr/>
        </p:nvSpPr>
        <p:spPr>
          <a:xfrm>
            <a:off x="640080" y="2880360"/>
            <a:ext cx="3657600" cy="27432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Payment Security</a:t>
            </a:r>
            <a:endParaRPr lang="en-US" sz="1600" dirty="0"/>
          </a:p>
        </p:txBody>
      </p:sp>
      <p:sp>
        <p:nvSpPr>
          <p:cNvPr id="11" name="Text 9"/>
          <p:cNvSpPr/>
          <p:nvPr/>
        </p:nvSpPr>
        <p:spPr>
          <a:xfrm>
            <a:off x="731520" y="32004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PCI DSS compliant processing</a:t>
            </a:r>
            <a:endParaRPr lang="en-US" sz="1200" dirty="0"/>
          </a:p>
        </p:txBody>
      </p:sp>
      <p:sp>
        <p:nvSpPr>
          <p:cNvPr id="12" name="Text 10"/>
          <p:cNvSpPr/>
          <p:nvPr/>
        </p:nvSpPr>
        <p:spPr>
          <a:xfrm>
            <a:off x="731520" y="34290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No credit card storage</a:t>
            </a:r>
            <a:endParaRPr lang="en-US" sz="1200" dirty="0"/>
          </a:p>
        </p:txBody>
      </p:sp>
      <p:sp>
        <p:nvSpPr>
          <p:cNvPr id="13" name="Text 11"/>
          <p:cNvSpPr/>
          <p:nvPr/>
        </p:nvSpPr>
        <p:spPr>
          <a:xfrm>
            <a:off x="731520" y="36576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SSL/TLS encryption</a:t>
            </a:r>
            <a:endParaRPr lang="en-US" sz="1200" dirty="0"/>
          </a:p>
        </p:txBody>
      </p:sp>
      <p:sp>
        <p:nvSpPr>
          <p:cNvPr id="14" name="Shape 12"/>
          <p:cNvSpPr/>
          <p:nvPr/>
        </p:nvSpPr>
        <p:spPr>
          <a:xfrm>
            <a:off x="4663440" y="1371600"/>
            <a:ext cx="4023360" cy="1188720"/>
          </a:xfrm>
          <a:prstGeom prst="rect">
            <a:avLst/>
          </a:prstGeom>
          <a:solidFill>
            <a:srgbClr val="FFFFFF"/>
          </a:solidFill>
          <a:ln w="25400">
            <a:solidFill>
              <a:srgbClr val="2E75B6"/>
            </a:solidFill>
            <a:prstDash val="solid"/>
          </a:ln>
        </p:spPr>
      </p:sp>
      <p:sp>
        <p:nvSpPr>
          <p:cNvPr id="15" name="Text 13"/>
          <p:cNvSpPr/>
          <p:nvPr/>
        </p:nvSpPr>
        <p:spPr>
          <a:xfrm>
            <a:off x="4846320" y="1508760"/>
            <a:ext cx="3657600" cy="27432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Access Control</a:t>
            </a:r>
            <a:endParaRPr lang="en-US" sz="1600" dirty="0"/>
          </a:p>
        </p:txBody>
      </p:sp>
      <p:sp>
        <p:nvSpPr>
          <p:cNvPr id="16" name="Text 14"/>
          <p:cNvSpPr/>
          <p:nvPr/>
        </p:nvSpPr>
        <p:spPr>
          <a:xfrm>
            <a:off x="4937760" y="18288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Role-based permissions</a:t>
            </a:r>
            <a:endParaRPr lang="en-US" sz="1200" dirty="0"/>
          </a:p>
        </p:txBody>
      </p:sp>
      <p:sp>
        <p:nvSpPr>
          <p:cNvPr id="17" name="Text 15"/>
          <p:cNvSpPr/>
          <p:nvPr/>
        </p:nvSpPr>
        <p:spPr>
          <a:xfrm>
            <a:off x="4937760" y="20574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IT officer can reset passwords</a:t>
            </a:r>
            <a:endParaRPr lang="en-US" sz="1200" dirty="0"/>
          </a:p>
        </p:txBody>
      </p:sp>
      <p:sp>
        <p:nvSpPr>
          <p:cNvPr id="18" name="Text 16"/>
          <p:cNvSpPr/>
          <p:nvPr/>
        </p:nvSpPr>
        <p:spPr>
          <a:xfrm>
            <a:off x="4937760" y="22860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Owner has full system access</a:t>
            </a:r>
            <a:endParaRPr lang="en-US" sz="1200" dirty="0"/>
          </a:p>
        </p:txBody>
      </p:sp>
      <p:sp>
        <p:nvSpPr>
          <p:cNvPr id="19" name="Shape 17"/>
          <p:cNvSpPr/>
          <p:nvPr/>
        </p:nvSpPr>
        <p:spPr>
          <a:xfrm>
            <a:off x="4663440" y="2743200"/>
            <a:ext cx="4023360" cy="1188720"/>
          </a:xfrm>
          <a:prstGeom prst="rect">
            <a:avLst/>
          </a:prstGeom>
          <a:solidFill>
            <a:srgbClr val="FFFFFF"/>
          </a:solidFill>
          <a:ln w="25400">
            <a:solidFill>
              <a:srgbClr val="2E75B6"/>
            </a:solidFill>
            <a:prstDash val="solid"/>
          </a:ln>
        </p:spPr>
      </p:sp>
      <p:sp>
        <p:nvSpPr>
          <p:cNvPr id="20" name="Text 18"/>
          <p:cNvSpPr/>
          <p:nvPr/>
        </p:nvSpPr>
        <p:spPr>
          <a:xfrm>
            <a:off x="4846320" y="2880360"/>
            <a:ext cx="3657600" cy="27432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Activity Tracking</a:t>
            </a:r>
            <a:endParaRPr lang="en-US" sz="1600" dirty="0"/>
          </a:p>
        </p:txBody>
      </p:sp>
      <p:sp>
        <p:nvSpPr>
          <p:cNvPr id="21" name="Text 19"/>
          <p:cNvSpPr/>
          <p:nvPr/>
        </p:nvSpPr>
        <p:spPr>
          <a:xfrm>
            <a:off x="4937760" y="32004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All actions are logged</a:t>
            </a:r>
            <a:endParaRPr lang="en-US" sz="1200" dirty="0"/>
          </a:p>
        </p:txBody>
      </p:sp>
      <p:sp>
        <p:nvSpPr>
          <p:cNvPr id="22" name="Text 20"/>
          <p:cNvSpPr/>
          <p:nvPr/>
        </p:nvSpPr>
        <p:spPr>
          <a:xfrm>
            <a:off x="4937760" y="34290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Track who made changes</a:t>
            </a:r>
            <a:endParaRPr lang="en-US" sz="1200" dirty="0"/>
          </a:p>
        </p:txBody>
      </p:sp>
      <p:sp>
        <p:nvSpPr>
          <p:cNvPr id="23" name="Text 21"/>
          <p:cNvSpPr/>
          <p:nvPr/>
        </p:nvSpPr>
        <p:spPr>
          <a:xfrm>
            <a:off x="4937760" y="3657600"/>
            <a:ext cx="3566160" cy="18288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 Generate audit reports</a:t>
            </a:r>
            <a:endParaRPr lang="en-US" sz="1200" dirty="0"/>
          </a:p>
        </p:txBody>
      </p:sp>
      <p:sp>
        <p:nvSpPr>
          <p:cNvPr id="24" name="Shape 22"/>
          <p:cNvSpPr/>
          <p:nvPr/>
        </p:nvSpPr>
        <p:spPr>
          <a:xfrm>
            <a:off x="457200" y="4206240"/>
            <a:ext cx="8229600" cy="1097280"/>
          </a:xfrm>
          <a:prstGeom prst="rect">
            <a:avLst/>
          </a:prstGeom>
          <a:solidFill>
            <a:srgbClr val="70AD47"/>
          </a:solidFill>
          <a:ln/>
        </p:spPr>
      </p:sp>
      <p:sp>
        <p:nvSpPr>
          <p:cNvPr id="25" name="Text 23"/>
          <p:cNvSpPr/>
          <p:nvPr/>
        </p:nvSpPr>
        <p:spPr>
          <a:xfrm>
            <a:off x="731520" y="4389120"/>
            <a:ext cx="457200" cy="45720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26" name="Text 24"/>
          <p:cNvSpPr/>
          <p:nvPr/>
        </p:nvSpPr>
        <p:spPr>
          <a:xfrm>
            <a:off x="1371600" y="4343400"/>
            <a:ext cx="713232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Key Benefit</a:t>
            </a:r>
            <a:endParaRPr lang="en-US" sz="1600" dirty="0"/>
          </a:p>
        </p:txBody>
      </p:sp>
      <p:sp>
        <p:nvSpPr>
          <p:cNvPr id="27" name="Text 25"/>
          <p:cNvSpPr/>
          <p:nvPr/>
        </p:nvSpPr>
        <p:spPr>
          <a:xfrm>
            <a:off x="1371600" y="4663440"/>
            <a:ext cx="7132320" cy="54864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As Ian requested, the system provides full access control while maintaining comprehensive security. You'll know exactly who did what, when they did it, and can generate reports to track all system activity.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1F4E78"/>
                </a:solidFill>
                <a:latin typeface="Arial" pitchFamily="34" charset="0"/>
                <a:ea typeface="Arial" pitchFamily="34" charset="-122"/>
                <a:cs typeface="Arial" pitchFamily="34" charset="-120"/>
              </a:rPr>
              <a:t>System Design Considerations</a:t>
            </a:r>
            <a:endParaRPr lang="en-US" sz="3200" dirty="0"/>
          </a:p>
        </p:txBody>
      </p:sp>
      <p:sp>
        <p:nvSpPr>
          <p:cNvPr id="3" name="Text 1"/>
          <p:cNvSpPr/>
          <p:nvPr/>
        </p:nvSpPr>
        <p:spPr>
          <a:xfrm>
            <a:off x="457200" y="914400"/>
            <a:ext cx="8229600" cy="274320"/>
          </a:xfrm>
          <a:prstGeom prst="rect">
            <a:avLst/>
          </a:prstGeom>
          <a:noFill/>
          <a:ln/>
        </p:spPr>
        <p:txBody>
          <a:bodyPr wrap="square" rtlCol="0" anchor="ctr"/>
          <a:lstStyle/>
          <a:p>
            <a:pPr indent="0" marL="0">
              <a:buNone/>
            </a:pPr>
            <a:r>
              <a:rPr lang="en-US" sz="1800" dirty="0">
                <a:solidFill>
                  <a:srgbClr val="2E75B6"/>
                </a:solidFill>
                <a:latin typeface="Arial" pitchFamily="34" charset="0"/>
                <a:ea typeface="Arial" pitchFamily="34" charset="-122"/>
                <a:cs typeface="Arial" pitchFamily="34" charset="-120"/>
              </a:rPr>
              <a:t>What the System Does &amp; Important Notes</a:t>
            </a:r>
            <a:endParaRPr lang="en-US" sz="1800" dirty="0"/>
          </a:p>
        </p:txBody>
      </p:sp>
      <p:sp>
        <p:nvSpPr>
          <p:cNvPr id="4" name="Shape 2"/>
          <p:cNvSpPr/>
          <p:nvPr/>
        </p:nvSpPr>
        <p:spPr>
          <a:xfrm>
            <a:off x="457200" y="1371600"/>
            <a:ext cx="8229600" cy="822960"/>
          </a:xfrm>
          <a:prstGeom prst="rect">
            <a:avLst/>
          </a:prstGeom>
          <a:solidFill>
            <a:srgbClr val="F2F2F2"/>
          </a:solidFill>
          <a:ln w="12700">
            <a:solidFill>
              <a:srgbClr val="2E75B6"/>
            </a:solidFill>
            <a:prstDash val="solid"/>
          </a:ln>
        </p:spPr>
      </p:sp>
      <p:sp>
        <p:nvSpPr>
          <p:cNvPr id="5" name="Text 3"/>
          <p:cNvSpPr/>
          <p:nvPr/>
        </p:nvSpPr>
        <p:spPr>
          <a:xfrm>
            <a:off x="640080" y="1508760"/>
            <a:ext cx="365760" cy="365760"/>
          </a:xfrm>
          <a:prstGeom prst="rect">
            <a:avLst/>
          </a:prstGeom>
          <a:noFill/>
          <a:ln/>
        </p:spPr>
        <p:txBody>
          <a:bodyPr wrap="square" rtlCol="0" anchor="ctr"/>
          <a:lstStyle/>
          <a:p>
            <a:pPr indent="0" marL="0">
              <a:buNone/>
            </a:pPr>
            <a:r>
              <a:rPr lang="en-US" sz="2800" dirty="0">
                <a:solidFill>
                  <a:srgbClr val="000000"/>
                </a:solidFill>
              </a:rPr>
              <a:t>☁️</a:t>
            </a:r>
            <a:endParaRPr lang="en-US" sz="2800" dirty="0"/>
          </a:p>
        </p:txBody>
      </p:sp>
      <p:sp>
        <p:nvSpPr>
          <p:cNvPr id="6" name="Text 4"/>
          <p:cNvSpPr/>
          <p:nvPr/>
        </p:nvSpPr>
        <p:spPr>
          <a:xfrm>
            <a:off x="1097280" y="1481328"/>
            <a:ext cx="7315200" cy="27432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Cloud-Based System</a:t>
            </a:r>
            <a:endParaRPr lang="en-US" sz="1600" dirty="0"/>
          </a:p>
        </p:txBody>
      </p:sp>
      <p:sp>
        <p:nvSpPr>
          <p:cNvPr id="7" name="Text 5"/>
          <p:cNvSpPr/>
          <p:nvPr/>
        </p:nvSpPr>
        <p:spPr>
          <a:xfrm>
            <a:off x="1097280" y="1783080"/>
            <a:ext cx="7406640" cy="36576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As you requested, the system runs entirely in the cloud. This means you won't need to manage servers, backups, or security infrastructure. However, you will need an internet connection to access the system. The cloud provider handles all maintenance and security updates automatically.</a:t>
            </a:r>
            <a:endParaRPr lang="en-US" sz="1200" dirty="0"/>
          </a:p>
        </p:txBody>
      </p:sp>
      <p:sp>
        <p:nvSpPr>
          <p:cNvPr id="8" name="Shape 6"/>
          <p:cNvSpPr/>
          <p:nvPr/>
        </p:nvSpPr>
        <p:spPr>
          <a:xfrm>
            <a:off x="457200" y="2377440"/>
            <a:ext cx="8229600" cy="822960"/>
          </a:xfrm>
          <a:prstGeom prst="rect">
            <a:avLst/>
          </a:prstGeom>
          <a:solidFill>
            <a:srgbClr val="F2F2F2"/>
          </a:solidFill>
          <a:ln w="12700">
            <a:solidFill>
              <a:srgbClr val="2E75B6"/>
            </a:solidFill>
            <a:prstDash val="solid"/>
          </a:ln>
        </p:spPr>
      </p:sp>
      <p:sp>
        <p:nvSpPr>
          <p:cNvPr id="9" name="Text 7"/>
          <p:cNvSpPr/>
          <p:nvPr/>
        </p:nvSpPr>
        <p:spPr>
          <a:xfrm>
            <a:off x="640080" y="2514600"/>
            <a:ext cx="365760" cy="365760"/>
          </a:xfrm>
          <a:prstGeom prst="rect">
            <a:avLst/>
          </a:prstGeom>
          <a:noFill/>
          <a:ln/>
        </p:spPr>
        <p:txBody>
          <a:bodyPr wrap="square" rtlCol="0" anchor="ctr"/>
          <a:lstStyle/>
          <a:p>
            <a:pPr indent="0" marL="0">
              <a:buNone/>
            </a:pPr>
            <a:r>
              <a:rPr lang="en-US" sz="2800" dirty="0">
                <a:solidFill>
                  <a:srgbClr val="000000"/>
                </a:solidFill>
              </a:rPr>
              <a:t>🌐</a:t>
            </a:r>
            <a:endParaRPr lang="en-US" sz="2800" dirty="0"/>
          </a:p>
        </p:txBody>
      </p:sp>
      <p:sp>
        <p:nvSpPr>
          <p:cNvPr id="10" name="Text 8"/>
          <p:cNvSpPr/>
          <p:nvPr/>
        </p:nvSpPr>
        <p:spPr>
          <a:xfrm>
            <a:off x="1097280" y="2487168"/>
            <a:ext cx="7315200" cy="27432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Online-Only Data Updates</a:t>
            </a:r>
            <a:endParaRPr lang="en-US" sz="1600" dirty="0"/>
          </a:p>
        </p:txBody>
      </p:sp>
      <p:sp>
        <p:nvSpPr>
          <p:cNvPr id="11" name="Text 9"/>
          <p:cNvSpPr/>
          <p:nvPr/>
        </p:nvSpPr>
        <p:spPr>
          <a:xfrm>
            <a:off x="1097280" y="2788920"/>
            <a:ext cx="7406640" cy="36576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While you can view and download reports to work on offline, any changes to the system (scheduling, cancellations, etc.) must be done while connected to the internet. This prevents data conflicts and ensures all information stays synchronized across all users.</a:t>
            </a:r>
            <a:endParaRPr lang="en-US" sz="1200" dirty="0"/>
          </a:p>
        </p:txBody>
      </p:sp>
      <p:sp>
        <p:nvSpPr>
          <p:cNvPr id="12" name="Shape 10"/>
          <p:cNvSpPr/>
          <p:nvPr/>
        </p:nvSpPr>
        <p:spPr>
          <a:xfrm>
            <a:off x="457200" y="3383280"/>
            <a:ext cx="8229600" cy="822960"/>
          </a:xfrm>
          <a:prstGeom prst="rect">
            <a:avLst/>
          </a:prstGeom>
          <a:solidFill>
            <a:srgbClr val="F2F2F2"/>
          </a:solidFill>
          <a:ln w="12700">
            <a:solidFill>
              <a:srgbClr val="2E75B6"/>
            </a:solidFill>
            <a:prstDash val="solid"/>
          </a:ln>
        </p:spPr>
      </p:sp>
      <p:sp>
        <p:nvSpPr>
          <p:cNvPr id="13" name="Text 11"/>
          <p:cNvSpPr/>
          <p:nvPr/>
        </p:nvSpPr>
        <p:spPr>
          <a:xfrm>
            <a:off x="640080" y="3520440"/>
            <a:ext cx="365760" cy="365760"/>
          </a:xfrm>
          <a:prstGeom prst="rect">
            <a:avLst/>
          </a:prstGeom>
          <a:noFill/>
          <a:ln/>
        </p:spPr>
        <p:txBody>
          <a:bodyPr wrap="square" rtlCol="0" anchor="ctr"/>
          <a:lstStyle/>
          <a:p>
            <a:pPr indent="0" marL="0">
              <a:buNone/>
            </a:pPr>
            <a:r>
              <a:rPr lang="en-US" sz="2800" dirty="0">
                <a:solidFill>
                  <a:srgbClr val="000000"/>
                </a:solidFill>
              </a:rPr>
              <a:t>📦</a:t>
            </a:r>
            <a:endParaRPr lang="en-US" sz="2800" dirty="0"/>
          </a:p>
        </p:txBody>
      </p:sp>
      <p:sp>
        <p:nvSpPr>
          <p:cNvPr id="14" name="Text 12"/>
          <p:cNvSpPr/>
          <p:nvPr/>
        </p:nvSpPr>
        <p:spPr>
          <a:xfrm>
            <a:off x="1097280" y="3493008"/>
            <a:ext cx="7315200" cy="27432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Package Management Flexibility</a:t>
            </a:r>
            <a:endParaRPr lang="en-US" sz="1600" dirty="0"/>
          </a:p>
        </p:txBody>
      </p:sp>
      <p:sp>
        <p:nvSpPr>
          <p:cNvPr id="15" name="Text 13"/>
          <p:cNvSpPr/>
          <p:nvPr/>
        </p:nvSpPr>
        <p:spPr>
          <a:xfrm>
            <a:off x="1097280" y="3794760"/>
            <a:ext cx="7406640" cy="365760"/>
          </a:xfrm>
          <a:prstGeom prst="rect">
            <a:avLst/>
          </a:prstGeom>
          <a:noFill/>
          <a:ln/>
        </p:spPr>
        <p:txBody>
          <a:bodyPr wrap="square" rtlCol="0" anchor="ctr"/>
          <a:lstStyle/>
          <a:p>
            <a:pPr indent="0" marL="0">
              <a:buNone/>
            </a:pPr>
            <a:r>
              <a:rPr lang="en-US" sz="1200" dirty="0">
                <a:solidFill>
                  <a:srgbClr val="333333"/>
                </a:solidFill>
                <a:latin typeface="Arial" pitchFamily="34" charset="0"/>
                <a:ea typeface="Arial" pitchFamily="34" charset="-122"/>
                <a:cs typeface="Arial" pitchFamily="34" charset="-120"/>
              </a:rPr>
              <a:t>You can easily enable or disable packages to control customer enrollment. For more complex changes (adding new packages or modifying hours), you'll work with the development team for future updates. This ensures system stability and data integrity.</a:t>
            </a:r>
            <a:endParaRPr lang="en-US" sz="1200" dirty="0"/>
          </a:p>
        </p:txBody>
      </p:sp>
      <p:sp>
        <p:nvSpPr>
          <p:cNvPr id="16" name="Shape 14"/>
          <p:cNvSpPr/>
          <p:nvPr/>
        </p:nvSpPr>
        <p:spPr>
          <a:xfrm>
            <a:off x="457200" y="4389120"/>
            <a:ext cx="8229600" cy="822960"/>
          </a:xfrm>
          <a:prstGeom prst="rect">
            <a:avLst/>
          </a:prstGeom>
          <a:solidFill>
            <a:srgbClr val="70AD47"/>
          </a:solidFill>
          <a:ln/>
        </p:spPr>
      </p:sp>
      <p:sp>
        <p:nvSpPr>
          <p:cNvPr id="17" name="Text 15"/>
          <p:cNvSpPr/>
          <p:nvPr/>
        </p:nvSpPr>
        <p:spPr>
          <a:xfrm>
            <a:off x="640080" y="4526280"/>
            <a:ext cx="365760" cy="365760"/>
          </a:xfrm>
          <a:prstGeom prst="rect">
            <a:avLst/>
          </a:prstGeom>
          <a:noFill/>
          <a:ln/>
        </p:spPr>
        <p:txBody>
          <a:bodyPr wrap="square" rtlCol="0" anchor="ctr"/>
          <a:lstStyle/>
          <a:p>
            <a:pPr indent="0" marL="0">
              <a:buNone/>
            </a:pPr>
            <a:r>
              <a:rPr lang="en-US" sz="2800" dirty="0">
                <a:solidFill>
                  <a:srgbClr val="000000"/>
                </a:solidFill>
              </a:rPr>
              <a:t>📈</a:t>
            </a:r>
            <a:endParaRPr lang="en-US" sz="2800" dirty="0"/>
          </a:p>
        </p:txBody>
      </p:sp>
      <p:sp>
        <p:nvSpPr>
          <p:cNvPr id="18" name="Text 16"/>
          <p:cNvSpPr/>
          <p:nvPr/>
        </p:nvSpPr>
        <p:spPr>
          <a:xfrm>
            <a:off x="1097280" y="4498848"/>
            <a:ext cx="731520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Designed for Growth</a:t>
            </a:r>
            <a:endParaRPr lang="en-US" sz="1600" dirty="0"/>
          </a:p>
        </p:txBody>
      </p:sp>
      <p:sp>
        <p:nvSpPr>
          <p:cNvPr id="19" name="Text 17"/>
          <p:cNvSpPr/>
          <p:nvPr/>
        </p:nvSpPr>
        <p:spPr>
          <a:xfrm>
            <a:off x="1097280" y="4800600"/>
            <a:ext cx="7406640" cy="36576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The system automatically scales to handle more customers as your business grows. You can easily add more vehicles, drivers, and lesson slots without system limitations. The infrastructure grows with your success!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4E78"/>
        </a:solidFill>
      </p:bgPr>
    </p:bg>
    <p:spTree>
      <p:nvGrpSpPr>
        <p:cNvPr id="1" name=""/>
        <p:cNvGrpSpPr/>
        <p:nvPr/>
      </p:nvGrpSpPr>
      <p:grpSpPr>
        <a:xfrm>
          <a:off x="0" y="0"/>
          <a:ext cx="0" cy="0"/>
          <a:chOff x="0" y="0"/>
          <a:chExt cx="0" cy="0"/>
        </a:xfrm>
      </p:grpSpPr>
      <p:sp>
        <p:nvSpPr>
          <p:cNvPr id="2" name="Text 0"/>
          <p:cNvSpPr/>
          <p:nvPr/>
        </p:nvSpPr>
        <p:spPr>
          <a:xfrm>
            <a:off x="457200" y="1097280"/>
            <a:ext cx="8229600" cy="73152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Next Steps</a:t>
            </a:r>
            <a:endParaRPr lang="en-US" sz="4000" dirty="0"/>
          </a:p>
        </p:txBody>
      </p:sp>
      <p:sp>
        <p:nvSpPr>
          <p:cNvPr id="3" name="Shape 1"/>
          <p:cNvSpPr/>
          <p:nvPr/>
        </p:nvSpPr>
        <p:spPr>
          <a:xfrm>
            <a:off x="1828800" y="2286000"/>
            <a:ext cx="5486400" cy="411480"/>
          </a:xfrm>
          <a:prstGeom prst="rect">
            <a:avLst/>
          </a:prstGeom>
          <a:solidFill>
            <a:srgbClr val="5B9BD5"/>
          </a:solidFill>
          <a:ln w="12700">
            <a:solidFill>
              <a:srgbClr val="2E75B6"/>
            </a:solidFill>
            <a:prstDash val="solid"/>
          </a:ln>
        </p:spPr>
      </p:sp>
      <p:sp>
        <p:nvSpPr>
          <p:cNvPr id="4" name="Text 2"/>
          <p:cNvSpPr/>
          <p:nvPr/>
        </p:nvSpPr>
        <p:spPr>
          <a:xfrm>
            <a:off x="2011680" y="2377440"/>
            <a:ext cx="365760" cy="2286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2468880" y="2377440"/>
            <a:ext cx="4572000" cy="22860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Review and approve system design</a:t>
            </a:r>
            <a:endParaRPr lang="en-US" sz="1400" dirty="0"/>
          </a:p>
        </p:txBody>
      </p:sp>
      <p:sp>
        <p:nvSpPr>
          <p:cNvPr id="6" name="Shape 4"/>
          <p:cNvSpPr/>
          <p:nvPr/>
        </p:nvSpPr>
        <p:spPr>
          <a:xfrm>
            <a:off x="1828800" y="2788920"/>
            <a:ext cx="5486400" cy="411480"/>
          </a:xfrm>
          <a:prstGeom prst="rect">
            <a:avLst/>
          </a:prstGeom>
          <a:solidFill>
            <a:srgbClr val="5B9BD5"/>
          </a:solidFill>
          <a:ln w="12700">
            <a:solidFill>
              <a:srgbClr val="2E75B6"/>
            </a:solidFill>
            <a:prstDash val="solid"/>
          </a:ln>
        </p:spPr>
      </p:sp>
      <p:sp>
        <p:nvSpPr>
          <p:cNvPr id="7" name="Text 5"/>
          <p:cNvSpPr/>
          <p:nvPr/>
        </p:nvSpPr>
        <p:spPr>
          <a:xfrm>
            <a:off x="2011680" y="2880360"/>
            <a:ext cx="365760" cy="2286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Text 6"/>
          <p:cNvSpPr/>
          <p:nvPr/>
        </p:nvSpPr>
        <p:spPr>
          <a:xfrm>
            <a:off x="2468880" y="2880360"/>
            <a:ext cx="4572000" cy="22860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Finalize interface mockups with your team</a:t>
            </a:r>
            <a:endParaRPr lang="en-US" sz="1400" dirty="0"/>
          </a:p>
        </p:txBody>
      </p:sp>
      <p:sp>
        <p:nvSpPr>
          <p:cNvPr id="9" name="Shape 7"/>
          <p:cNvSpPr/>
          <p:nvPr/>
        </p:nvSpPr>
        <p:spPr>
          <a:xfrm>
            <a:off x="1828800" y="3291840"/>
            <a:ext cx="5486400" cy="411480"/>
          </a:xfrm>
          <a:prstGeom prst="rect">
            <a:avLst/>
          </a:prstGeom>
          <a:solidFill>
            <a:srgbClr val="5B9BD5"/>
          </a:solidFill>
          <a:ln w="12700">
            <a:solidFill>
              <a:srgbClr val="2E75B6"/>
            </a:solidFill>
            <a:prstDash val="solid"/>
          </a:ln>
        </p:spPr>
      </p:sp>
      <p:sp>
        <p:nvSpPr>
          <p:cNvPr id="10" name="Text 8"/>
          <p:cNvSpPr/>
          <p:nvPr/>
        </p:nvSpPr>
        <p:spPr>
          <a:xfrm>
            <a:off x="2011680" y="3383280"/>
            <a:ext cx="365760" cy="2286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2468880" y="3383280"/>
            <a:ext cx="4572000" cy="22860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Begin development phase</a:t>
            </a:r>
            <a:endParaRPr lang="en-US" sz="1400" dirty="0"/>
          </a:p>
        </p:txBody>
      </p:sp>
      <p:sp>
        <p:nvSpPr>
          <p:cNvPr id="12" name="Shape 10"/>
          <p:cNvSpPr/>
          <p:nvPr/>
        </p:nvSpPr>
        <p:spPr>
          <a:xfrm>
            <a:off x="1828800" y="3794760"/>
            <a:ext cx="5486400" cy="411480"/>
          </a:xfrm>
          <a:prstGeom prst="rect">
            <a:avLst/>
          </a:prstGeom>
          <a:solidFill>
            <a:srgbClr val="5B9BD5"/>
          </a:solidFill>
          <a:ln w="12700">
            <a:solidFill>
              <a:srgbClr val="2E75B6"/>
            </a:solidFill>
            <a:prstDash val="solid"/>
          </a:ln>
        </p:spPr>
      </p:sp>
      <p:sp>
        <p:nvSpPr>
          <p:cNvPr id="13" name="Text 11"/>
          <p:cNvSpPr/>
          <p:nvPr/>
        </p:nvSpPr>
        <p:spPr>
          <a:xfrm>
            <a:off x="2011680" y="3886200"/>
            <a:ext cx="365760" cy="2286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4" name="Text 12"/>
          <p:cNvSpPr/>
          <p:nvPr/>
        </p:nvSpPr>
        <p:spPr>
          <a:xfrm>
            <a:off x="2468880" y="3886200"/>
            <a:ext cx="4572000" cy="22860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Conduct system testing</a:t>
            </a:r>
            <a:endParaRPr lang="en-US" sz="1400" dirty="0"/>
          </a:p>
        </p:txBody>
      </p:sp>
      <p:sp>
        <p:nvSpPr>
          <p:cNvPr id="15" name="Shape 13"/>
          <p:cNvSpPr/>
          <p:nvPr/>
        </p:nvSpPr>
        <p:spPr>
          <a:xfrm>
            <a:off x="1828800" y="4297680"/>
            <a:ext cx="5486400" cy="411480"/>
          </a:xfrm>
          <a:prstGeom prst="rect">
            <a:avLst/>
          </a:prstGeom>
          <a:solidFill>
            <a:srgbClr val="5B9BD5"/>
          </a:solidFill>
          <a:ln w="12700">
            <a:solidFill>
              <a:srgbClr val="2E75B6"/>
            </a:solidFill>
            <a:prstDash val="solid"/>
          </a:ln>
        </p:spPr>
      </p:sp>
      <p:sp>
        <p:nvSpPr>
          <p:cNvPr id="16" name="Text 14"/>
          <p:cNvSpPr/>
          <p:nvPr/>
        </p:nvSpPr>
        <p:spPr>
          <a:xfrm>
            <a:off x="2011680" y="4389120"/>
            <a:ext cx="365760" cy="2286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7" name="Text 15"/>
          <p:cNvSpPr/>
          <p:nvPr/>
        </p:nvSpPr>
        <p:spPr>
          <a:xfrm>
            <a:off x="2468880" y="4389120"/>
            <a:ext cx="4572000" cy="22860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Train your staff on system usage</a:t>
            </a:r>
            <a:endParaRPr lang="en-US" sz="1400" dirty="0"/>
          </a:p>
        </p:txBody>
      </p:sp>
      <p:sp>
        <p:nvSpPr>
          <p:cNvPr id="18" name="Shape 16"/>
          <p:cNvSpPr/>
          <p:nvPr/>
        </p:nvSpPr>
        <p:spPr>
          <a:xfrm>
            <a:off x="1828800" y="4800600"/>
            <a:ext cx="5486400" cy="411480"/>
          </a:xfrm>
          <a:prstGeom prst="rect">
            <a:avLst/>
          </a:prstGeom>
          <a:solidFill>
            <a:srgbClr val="5B9BD5"/>
          </a:solidFill>
          <a:ln w="12700">
            <a:solidFill>
              <a:srgbClr val="2E75B6"/>
            </a:solidFill>
            <a:prstDash val="solid"/>
          </a:ln>
        </p:spPr>
      </p:sp>
      <p:sp>
        <p:nvSpPr>
          <p:cNvPr id="19" name="Text 17"/>
          <p:cNvSpPr/>
          <p:nvPr/>
        </p:nvSpPr>
        <p:spPr>
          <a:xfrm>
            <a:off x="2011680" y="4892040"/>
            <a:ext cx="365760" cy="2286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0" name="Text 18"/>
          <p:cNvSpPr/>
          <p:nvPr/>
        </p:nvSpPr>
        <p:spPr>
          <a:xfrm>
            <a:off x="2468880" y="4892040"/>
            <a:ext cx="4572000" cy="22860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Launch DriverPass system</a:t>
            </a:r>
            <a:endParaRPr lang="en-US" sz="1400" dirty="0"/>
          </a:p>
        </p:txBody>
      </p:sp>
      <p:sp>
        <p:nvSpPr>
          <p:cNvPr id="21" name="Text 19"/>
          <p:cNvSpPr/>
          <p:nvPr/>
        </p:nvSpPr>
        <p:spPr>
          <a:xfrm>
            <a:off x="457200" y="4754880"/>
            <a:ext cx="8229600" cy="457200"/>
          </a:xfrm>
          <a:prstGeom prst="rect">
            <a:avLst/>
          </a:prstGeom>
          <a:noFill/>
          <a:ln/>
        </p:spPr>
        <p:txBody>
          <a:bodyPr wrap="square" rtlCol="0" anchor="ctr"/>
          <a:lstStyle/>
          <a:p>
            <a:pPr algn="ctr" indent="0" marL="0">
              <a:buNone/>
            </a:pPr>
            <a:r>
              <a:rPr lang="en-US" sz="2800" i="1" dirty="0">
                <a:solidFill>
                  <a:srgbClr val="5B9BD5"/>
                </a:solidFill>
                <a:latin typeface="Arial" pitchFamily="34" charset="0"/>
                <a:ea typeface="Arial" pitchFamily="34" charset="-122"/>
                <a:cs typeface="Arial" pitchFamily="34" charset="-120"/>
              </a:rPr>
              <a:t>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2026-02-22T19:23:23Z</dcterms:created>
  <dcterms:modified xsi:type="dcterms:W3CDTF">2026-02-22T19:23:23Z</dcterms:modified>
</cp:coreProperties>
</file>